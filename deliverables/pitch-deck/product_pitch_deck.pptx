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RoadStar DispatchOS is a custom operating system for city dispatch, built around RoadStar’s workflow rather than around a generic third-party TMS. The story follows a load from intake to assignment, execution, evidence and measurable financial impact.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estimates that a dispatcher switches among roughly five systems and can miss one to three jobs daily. It also values the combined leakage at approximately $15,000 to $50,000 or more per month. RoadStar attacks the workflow failure behind those figures rather than merely adding another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command centre is not a read-only dashboard. It joins load intake, asset eligibility, human approval, driver action, live execution and financial evidence. Supabase provides the current managed Postgres and Realtime runtime, while RoadStar owns the schema, constraints and workflow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3D planner accepts pallets, crates, machinery and irregular dimensions, then evaluates protected geometry, stackability, floor bearing and unload order. The xflp sidecar handles specialized packing while RoadStar keeps a deterministic browser fallback. Axle geometry is deliberately labelled for verification rather than presented as certified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historical view reconciles the supplied RoadStar workbook into completed legs, loaded kilometres, empty kilometres and reverse-lane candidates. The 10,479 legs and 358,296 empty kilometres shown are evidence from the supplied baseline. The system avoids claiming the directional match scenario as guaranteed savings.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defines a Southern Ontario operating area anchored by London and Milton and bounded by Barrie, Peterborough, Pickering and Niagara Falls. RoadStar now renders that corridor with real hosted OSRM road geometry. The provider is an adapter: a self-hosted OSRM graph can replace the demo endpoint without changing the browser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recreates the supplied database schema snippet as editable entities: loads and cargo flow into plans and trailers, while drivers, recommendations, decisions and detention retain operational evidence. Production is live, the quality gate passes 163 unit/integration checks and 17 browser journeys, and authenticated QA covers dispatcher, driver, viewer and cross-organization boundaries. Real ELD and TMS vendors still require their API documentation and sandbox credentials.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is a controlled pilot rather than a wholesale systems replacement. Start with one real integration, operate the closed loop with one dispatch desk, and evaluate measurable workflow and financial outcomes. The current demo remains honest about simulated ELD/TMS data while proving the system’s integration seam.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A16"/>
        </a:solidFill>
      </p:bgPr>
    </p:bg>
    <p:spTree>
      <p:nvGrpSpPr>
        <p:cNvPr id="1" name=""/>
        <p:cNvGrpSpPr/>
        <p:nvPr/>
      </p:nvGrpSpPr>
      <p:grpSpPr>
        <a:xfrm>
          <a:off x="0" y="0"/>
          <a:ext cx="0" cy="0"/>
          <a:chOff x="0" y="0"/>
          <a:chExt cx="0" cy="0"/>
        </a:xfrm>
      </p:grpSpPr>
      <p:sp>
        <p:nvSpPr>
          <p:cNvPr id="2" name="Text 0"/>
          <p:cNvSpPr/>
          <p:nvPr/>
        </p:nvSpPr>
        <p:spPr>
          <a:xfrm>
            <a:off x="411480" y="182880"/>
            <a:ext cx="2926080" cy="201168"/>
          </a:xfrm>
          <a:prstGeom prst="rect">
            <a:avLst/>
          </a:prstGeom>
          <a:noFill/>
          <a:ln/>
        </p:spPr>
        <p:txBody>
          <a:bodyPr wrap="square" lIns="0" tIns="0" rIns="0" bIns="0" rtlCol="0" anchor="ctr"/>
          <a:lstStyle/>
          <a:p>
            <a:pPr indent="0" marL="0">
              <a:buNone/>
            </a:pPr>
            <a:r>
              <a:rPr lang="en-US" sz="800" b="1" spc="200" kern="0" dirty="0">
                <a:solidFill>
                  <a:srgbClr val="2DD4A0"/>
                </a:solidFill>
                <a:latin typeface="Aptos" pitchFamily="34" charset="0"/>
                <a:ea typeface="Aptos" pitchFamily="34" charset="-122"/>
                <a:cs typeface="Aptos" pitchFamily="34" charset="-120"/>
              </a:rPr>
              <a:t>ROADSTAR  /  DISPATCHOS</a:t>
            </a:r>
            <a:endParaRPr lang="en-US" sz="800" dirty="0"/>
          </a:p>
        </p:txBody>
      </p:sp>
      <p:sp>
        <p:nvSpPr>
          <p:cNvPr id="3" name="Text 1"/>
          <p:cNvSpPr/>
          <p:nvPr/>
        </p:nvSpPr>
        <p:spPr>
          <a:xfrm>
            <a:off x="11292840" y="182880"/>
            <a:ext cx="457200" cy="201168"/>
          </a:xfrm>
          <a:prstGeom prst="rect">
            <a:avLst/>
          </a:prstGeom>
          <a:noFill/>
          <a:ln/>
        </p:spPr>
        <p:txBody>
          <a:bodyPr wrap="square" lIns="0" tIns="0" rIns="0" bIns="0" rtlCol="0" anchor="ctr"/>
          <a:lstStyle/>
          <a:p>
            <a:pPr algn="r" indent="0" marL="0">
              <a:buNone/>
            </a:pPr>
            <a:r>
              <a:rPr lang="en-US" sz="800" b="1" dirty="0">
                <a:solidFill>
                  <a:srgbClr val="8FC8B5"/>
                </a:solidFill>
              </a:rPr>
              <a:t>01</a:t>
            </a:r>
            <a:endParaRPr lang="en-US" sz="800" dirty="0"/>
          </a:p>
        </p:txBody>
      </p:sp>
      <p:sp>
        <p:nvSpPr>
          <p:cNvPr id="4" name="Shape 2"/>
          <p:cNvSpPr/>
          <p:nvPr/>
        </p:nvSpPr>
        <p:spPr>
          <a:xfrm>
            <a:off x="502920" y="1051560"/>
            <a:ext cx="73152" cy="4160520"/>
          </a:xfrm>
          <a:prstGeom prst="rect">
            <a:avLst/>
          </a:prstGeom>
          <a:solidFill>
            <a:srgbClr val="2DD4A0"/>
          </a:solidFill>
          <a:ln w="12700">
            <a:solidFill>
              <a:srgbClr val="2DD4A0"/>
            </a:solidFill>
            <a:prstDash val="solid"/>
          </a:ln>
        </p:spPr>
      </p:sp>
      <p:sp>
        <p:nvSpPr>
          <p:cNvPr id="5" name="Text 3"/>
          <p:cNvSpPr/>
          <p:nvPr/>
        </p:nvSpPr>
        <p:spPr>
          <a:xfrm>
            <a:off x="804672" y="1115568"/>
            <a:ext cx="3840480" cy="182880"/>
          </a:xfrm>
          <a:prstGeom prst="rect">
            <a:avLst/>
          </a:prstGeom>
          <a:noFill/>
          <a:ln/>
        </p:spPr>
        <p:txBody>
          <a:bodyPr wrap="square" lIns="0" tIns="0" rIns="0" bIns="0" rtlCol="0" anchor="ctr"/>
          <a:lstStyle/>
          <a:p>
            <a:pPr indent="0" marL="0">
              <a:buNone/>
            </a:pPr>
            <a:r>
              <a:rPr lang="en-US" sz="800" b="1" spc="160" kern="0" dirty="0">
                <a:solidFill>
                  <a:srgbClr val="2DD4A0"/>
                </a:solidFill>
              </a:rPr>
              <a:t>CUSTOM TMS · SOUTHERN ONTARIO</a:t>
            </a:r>
            <a:endParaRPr lang="en-US" sz="800" dirty="0"/>
          </a:p>
        </p:txBody>
      </p:sp>
      <p:sp>
        <p:nvSpPr>
          <p:cNvPr id="6" name="Text 4"/>
          <p:cNvSpPr/>
          <p:nvPr/>
        </p:nvSpPr>
        <p:spPr>
          <a:xfrm>
            <a:off x="804672" y="1481328"/>
            <a:ext cx="7040880" cy="1600200"/>
          </a:xfrm>
          <a:prstGeom prst="rect">
            <a:avLst/>
          </a:prstGeom>
          <a:noFill/>
          <a:ln/>
        </p:spPr>
        <p:txBody>
          <a:bodyPr wrap="square" lIns="0" tIns="0" rIns="0" bIns="0" rtlCol="0" anchor="ctr">
            <a:normAutofit/>
          </a:bodyPr>
          <a:lstStyle/>
          <a:p>
            <a:pPr indent="0" marL="0">
              <a:buNone/>
            </a:pPr>
            <a:r>
              <a:rPr lang="en-US" sz="4000" b="1" dirty="0">
                <a:solidFill>
                  <a:srgbClr val="FFFFFF"/>
                </a:solidFill>
                <a:latin typeface="Aptos Display" pitchFamily="34" charset="0"/>
                <a:ea typeface="Aptos Display" pitchFamily="34" charset="-122"/>
                <a:cs typeface="Aptos Display" pitchFamily="34" charset="-120"/>
              </a:rPr>
              <a:t>One operating system</a:t>
            </a:r>
            <a:endParaRPr lang="en-US" sz="4000" dirty="0"/>
          </a:p>
          <a:p>
            <a:pPr indent="0" marL="0">
              <a:buNone/>
            </a:pPr>
            <a:r>
              <a:rPr lang="en-US" sz="4000" b="1" dirty="0">
                <a:solidFill>
                  <a:srgbClr val="FFFFFF"/>
                </a:solidFill>
                <a:latin typeface="Aptos Display" pitchFamily="34" charset="0"/>
                <a:ea typeface="Aptos Display" pitchFamily="34" charset="-122"/>
                <a:cs typeface="Aptos Display" pitchFamily="34" charset="-120"/>
              </a:rPr>
              <a:t>for every RoadStar move.</a:t>
            </a:r>
            <a:endParaRPr lang="en-US" sz="4000" dirty="0"/>
          </a:p>
        </p:txBody>
      </p:sp>
      <p:sp>
        <p:nvSpPr>
          <p:cNvPr id="7" name="Text 5"/>
          <p:cNvSpPr/>
          <p:nvPr/>
        </p:nvSpPr>
        <p:spPr>
          <a:xfrm>
            <a:off x="822960" y="3401568"/>
            <a:ext cx="6217920" cy="749808"/>
          </a:xfrm>
          <a:prstGeom prst="rect">
            <a:avLst/>
          </a:prstGeom>
          <a:noFill/>
          <a:ln/>
        </p:spPr>
        <p:txBody>
          <a:bodyPr wrap="square" lIns="254" tIns="254" rIns="254" bIns="254" rtlCol="0" anchor="ctr">
            <a:normAutofit/>
          </a:bodyPr>
          <a:lstStyle/>
          <a:p>
            <a:pPr indent="0" marL="0">
              <a:buNone/>
            </a:pPr>
            <a:r>
              <a:rPr lang="en-US" sz="1800" dirty="0">
                <a:solidFill>
                  <a:srgbClr val="BFD7CF"/>
                </a:solidFill>
              </a:rPr>
              <a:t>Quote more freight. Dispatch with confidence. Prove every kilometre, decision, and detention minute.</a:t>
            </a:r>
            <a:endParaRPr lang="en-US" sz="1800" dirty="0"/>
          </a:p>
        </p:txBody>
      </p:sp>
      <p:sp>
        <p:nvSpPr>
          <p:cNvPr id="8" name="Shape 6"/>
          <p:cNvSpPr/>
          <p:nvPr/>
        </p:nvSpPr>
        <p:spPr>
          <a:xfrm>
            <a:off x="7543800" y="1078992"/>
            <a:ext cx="3886200" cy="4160520"/>
          </a:xfrm>
          <a:prstGeom prst="roundRect">
            <a:avLst>
              <a:gd name="adj" fmla="val 2824"/>
            </a:avLst>
          </a:prstGeom>
          <a:solidFill>
            <a:srgbClr val="0D2B23"/>
          </a:solidFill>
          <a:ln w="12700">
            <a:solidFill>
              <a:srgbClr val="1B5645"/>
            </a:solidFill>
            <a:prstDash val="solid"/>
          </a:ln>
        </p:spPr>
      </p:sp>
      <p:sp>
        <p:nvSpPr>
          <p:cNvPr id="9" name="Text 7"/>
          <p:cNvSpPr/>
          <p:nvPr/>
        </p:nvSpPr>
        <p:spPr>
          <a:xfrm>
            <a:off x="7882128" y="1508760"/>
            <a:ext cx="402336" cy="274320"/>
          </a:xfrm>
          <a:prstGeom prst="rect">
            <a:avLst/>
          </a:prstGeom>
          <a:noFill/>
          <a:ln/>
        </p:spPr>
        <p:txBody>
          <a:bodyPr wrap="square" lIns="0" tIns="0" rIns="0" bIns="0" rtlCol="0" anchor="ctr"/>
          <a:lstStyle/>
          <a:p>
            <a:pPr indent="0" marL="0">
              <a:buNone/>
            </a:pPr>
            <a:r>
              <a:rPr lang="en-US" sz="1000" b="1" dirty="0">
                <a:solidFill>
                  <a:srgbClr val="2DD4A0"/>
                </a:solidFill>
              </a:rPr>
              <a:t>01</a:t>
            </a:r>
            <a:endParaRPr lang="en-US" sz="1000" dirty="0"/>
          </a:p>
        </p:txBody>
      </p:sp>
      <p:sp>
        <p:nvSpPr>
          <p:cNvPr id="10" name="Text 8"/>
          <p:cNvSpPr/>
          <p:nvPr/>
        </p:nvSpPr>
        <p:spPr>
          <a:xfrm>
            <a:off x="8430768" y="1490472"/>
            <a:ext cx="2468880" cy="310896"/>
          </a:xfrm>
          <a:prstGeom prst="rect">
            <a:avLst/>
          </a:prstGeom>
          <a:noFill/>
          <a:ln/>
        </p:spPr>
        <p:txBody>
          <a:bodyPr wrap="square" lIns="0" tIns="0" rIns="0" bIns="0" rtlCol="0" anchor="ctr">
            <a:normAutofit/>
          </a:bodyPr>
          <a:lstStyle/>
          <a:p>
            <a:pPr indent="0" marL="0">
              <a:buNone/>
            </a:pPr>
            <a:r>
              <a:rPr lang="en-US" sz="1600" b="1" dirty="0">
                <a:solidFill>
                  <a:srgbClr val="FFFFFF"/>
                </a:solidFill>
              </a:rPr>
              <a:t>Loads → eligible units</a:t>
            </a:r>
            <a:endParaRPr lang="en-US" sz="1600" dirty="0"/>
          </a:p>
        </p:txBody>
      </p:sp>
      <p:sp>
        <p:nvSpPr>
          <p:cNvPr id="11" name="Shape 9"/>
          <p:cNvSpPr/>
          <p:nvPr/>
        </p:nvSpPr>
        <p:spPr>
          <a:xfrm>
            <a:off x="8074152" y="1856232"/>
            <a:ext cx="0" cy="438912"/>
          </a:xfrm>
          <a:prstGeom prst="line">
            <a:avLst/>
          </a:prstGeom>
          <a:noFill/>
          <a:ln w="15240">
            <a:solidFill>
              <a:srgbClr val="28745E"/>
            </a:solidFill>
            <a:prstDash val="solid"/>
          </a:ln>
        </p:spPr>
      </p:sp>
      <p:sp>
        <p:nvSpPr>
          <p:cNvPr id="12" name="Text 10"/>
          <p:cNvSpPr/>
          <p:nvPr/>
        </p:nvSpPr>
        <p:spPr>
          <a:xfrm>
            <a:off x="7882128" y="2350008"/>
            <a:ext cx="402336" cy="274320"/>
          </a:xfrm>
          <a:prstGeom prst="rect">
            <a:avLst/>
          </a:prstGeom>
          <a:noFill/>
          <a:ln/>
        </p:spPr>
        <p:txBody>
          <a:bodyPr wrap="square" lIns="0" tIns="0" rIns="0" bIns="0" rtlCol="0" anchor="ctr"/>
          <a:lstStyle/>
          <a:p>
            <a:pPr indent="0" marL="0">
              <a:buNone/>
            </a:pPr>
            <a:r>
              <a:rPr lang="en-US" sz="1000" b="1" dirty="0">
                <a:solidFill>
                  <a:srgbClr val="2DD4A0"/>
                </a:solidFill>
              </a:rPr>
              <a:t>02</a:t>
            </a:r>
            <a:endParaRPr lang="en-US" sz="1000" dirty="0"/>
          </a:p>
        </p:txBody>
      </p:sp>
      <p:sp>
        <p:nvSpPr>
          <p:cNvPr id="13" name="Text 11"/>
          <p:cNvSpPr/>
          <p:nvPr/>
        </p:nvSpPr>
        <p:spPr>
          <a:xfrm>
            <a:off x="8430768" y="2331720"/>
            <a:ext cx="2468880" cy="310896"/>
          </a:xfrm>
          <a:prstGeom prst="rect">
            <a:avLst/>
          </a:prstGeom>
          <a:noFill/>
          <a:ln/>
        </p:spPr>
        <p:txBody>
          <a:bodyPr wrap="square" lIns="0" tIns="0" rIns="0" bIns="0" rtlCol="0" anchor="ctr">
            <a:normAutofit/>
          </a:bodyPr>
          <a:lstStyle/>
          <a:p>
            <a:pPr indent="0" marL="0">
              <a:buNone/>
            </a:pPr>
            <a:r>
              <a:rPr lang="en-US" sz="1600" b="1" dirty="0">
                <a:solidFill>
                  <a:srgbClr val="FFFFFF"/>
                </a:solidFill>
              </a:rPr>
              <a:t>Approval → driver action</a:t>
            </a:r>
            <a:endParaRPr lang="en-US" sz="1600" dirty="0"/>
          </a:p>
        </p:txBody>
      </p:sp>
      <p:sp>
        <p:nvSpPr>
          <p:cNvPr id="14" name="Shape 12"/>
          <p:cNvSpPr/>
          <p:nvPr/>
        </p:nvSpPr>
        <p:spPr>
          <a:xfrm>
            <a:off x="8074152" y="2697480"/>
            <a:ext cx="0" cy="438912"/>
          </a:xfrm>
          <a:prstGeom prst="line">
            <a:avLst/>
          </a:prstGeom>
          <a:noFill/>
          <a:ln w="15240">
            <a:solidFill>
              <a:srgbClr val="28745E"/>
            </a:solidFill>
            <a:prstDash val="solid"/>
          </a:ln>
        </p:spPr>
      </p:sp>
      <p:sp>
        <p:nvSpPr>
          <p:cNvPr id="15" name="Text 13"/>
          <p:cNvSpPr/>
          <p:nvPr/>
        </p:nvSpPr>
        <p:spPr>
          <a:xfrm>
            <a:off x="7882128" y="3191256"/>
            <a:ext cx="402336" cy="274320"/>
          </a:xfrm>
          <a:prstGeom prst="rect">
            <a:avLst/>
          </a:prstGeom>
          <a:noFill/>
          <a:ln/>
        </p:spPr>
        <p:txBody>
          <a:bodyPr wrap="square" lIns="0" tIns="0" rIns="0" bIns="0" rtlCol="0" anchor="ctr"/>
          <a:lstStyle/>
          <a:p>
            <a:pPr indent="0" marL="0">
              <a:buNone/>
            </a:pPr>
            <a:r>
              <a:rPr lang="en-US" sz="1000" b="1" dirty="0">
                <a:solidFill>
                  <a:srgbClr val="2DD4A0"/>
                </a:solidFill>
              </a:rPr>
              <a:t>03</a:t>
            </a:r>
            <a:endParaRPr lang="en-US" sz="1000" dirty="0"/>
          </a:p>
        </p:txBody>
      </p:sp>
      <p:sp>
        <p:nvSpPr>
          <p:cNvPr id="16" name="Text 14"/>
          <p:cNvSpPr/>
          <p:nvPr/>
        </p:nvSpPr>
        <p:spPr>
          <a:xfrm>
            <a:off x="8430768" y="3172968"/>
            <a:ext cx="2468880" cy="310896"/>
          </a:xfrm>
          <a:prstGeom prst="rect">
            <a:avLst/>
          </a:prstGeom>
          <a:noFill/>
          <a:ln/>
        </p:spPr>
        <p:txBody>
          <a:bodyPr wrap="square" lIns="0" tIns="0" rIns="0" bIns="0" rtlCol="0" anchor="ctr">
            <a:normAutofit/>
          </a:bodyPr>
          <a:lstStyle/>
          <a:p>
            <a:pPr indent="0" marL="0">
              <a:buNone/>
            </a:pPr>
            <a:r>
              <a:rPr lang="en-US" sz="1600" b="1" dirty="0">
                <a:solidFill>
                  <a:srgbClr val="FFFFFF"/>
                </a:solidFill>
              </a:rPr>
              <a:t>Live route → geofence</a:t>
            </a:r>
            <a:endParaRPr lang="en-US" sz="1600" dirty="0"/>
          </a:p>
        </p:txBody>
      </p:sp>
      <p:sp>
        <p:nvSpPr>
          <p:cNvPr id="17" name="Shape 15"/>
          <p:cNvSpPr/>
          <p:nvPr/>
        </p:nvSpPr>
        <p:spPr>
          <a:xfrm>
            <a:off x="8074152" y="3538728"/>
            <a:ext cx="0" cy="438912"/>
          </a:xfrm>
          <a:prstGeom prst="line">
            <a:avLst/>
          </a:prstGeom>
          <a:noFill/>
          <a:ln w="15240">
            <a:solidFill>
              <a:srgbClr val="28745E"/>
            </a:solidFill>
            <a:prstDash val="solid"/>
          </a:ln>
        </p:spPr>
      </p:sp>
      <p:sp>
        <p:nvSpPr>
          <p:cNvPr id="18" name="Text 16"/>
          <p:cNvSpPr/>
          <p:nvPr/>
        </p:nvSpPr>
        <p:spPr>
          <a:xfrm>
            <a:off x="7882128" y="4032504"/>
            <a:ext cx="402336" cy="274320"/>
          </a:xfrm>
          <a:prstGeom prst="rect">
            <a:avLst/>
          </a:prstGeom>
          <a:noFill/>
          <a:ln/>
        </p:spPr>
        <p:txBody>
          <a:bodyPr wrap="square" lIns="0" tIns="0" rIns="0" bIns="0" rtlCol="0" anchor="ctr"/>
          <a:lstStyle/>
          <a:p>
            <a:pPr indent="0" marL="0">
              <a:buNone/>
            </a:pPr>
            <a:r>
              <a:rPr lang="en-US" sz="1000" b="1" dirty="0">
                <a:solidFill>
                  <a:srgbClr val="2DD4A0"/>
                </a:solidFill>
              </a:rPr>
              <a:t>04</a:t>
            </a:r>
            <a:endParaRPr lang="en-US" sz="1000" dirty="0"/>
          </a:p>
        </p:txBody>
      </p:sp>
      <p:sp>
        <p:nvSpPr>
          <p:cNvPr id="19" name="Text 17"/>
          <p:cNvSpPr/>
          <p:nvPr/>
        </p:nvSpPr>
        <p:spPr>
          <a:xfrm>
            <a:off x="8430768" y="4014216"/>
            <a:ext cx="2468880" cy="310896"/>
          </a:xfrm>
          <a:prstGeom prst="rect">
            <a:avLst/>
          </a:prstGeom>
          <a:noFill/>
          <a:ln/>
        </p:spPr>
        <p:txBody>
          <a:bodyPr wrap="square" lIns="0" tIns="0" rIns="0" bIns="0" rtlCol="0" anchor="ctr">
            <a:normAutofit/>
          </a:bodyPr>
          <a:lstStyle/>
          <a:p>
            <a:pPr indent="0" marL="0">
              <a:buNone/>
            </a:pPr>
            <a:r>
              <a:rPr lang="en-US" sz="1600" b="1" dirty="0">
                <a:solidFill>
                  <a:srgbClr val="FFFFFF"/>
                </a:solidFill>
              </a:rPr>
              <a:t>Evidence → revenue</a:t>
            </a:r>
            <a:endParaRPr lang="en-US" sz="1600" dirty="0"/>
          </a:p>
        </p:txBody>
      </p:sp>
      <p:sp>
        <p:nvSpPr>
          <p:cNvPr id="20" name="Text 18"/>
          <p:cNvSpPr/>
          <p:nvPr/>
        </p:nvSpPr>
        <p:spPr>
          <a:xfrm>
            <a:off x="822960" y="5989320"/>
            <a:ext cx="2926080" cy="256032"/>
          </a:xfrm>
          <a:prstGeom prst="rect">
            <a:avLst/>
          </a:prstGeom>
          <a:noFill/>
          <a:ln/>
        </p:spPr>
        <p:txBody>
          <a:bodyPr wrap="square" lIns="0" tIns="0" rIns="0" bIns="0" rtlCol="0" anchor="ctr"/>
          <a:lstStyle/>
          <a:p>
            <a:pPr indent="0" marL="0">
              <a:buNone/>
            </a:pPr>
            <a:r>
              <a:rPr lang="en-US" sz="1200" b="1" dirty="0">
                <a:solidFill>
                  <a:srgbClr val="2DD4A0"/>
                </a:solidFill>
              </a:rPr>
              <a:t>roadstardispatch.xyz</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8"/>
        </a:solidFill>
      </p:bgPr>
    </p:bg>
    <p:spTree>
      <p:nvGrpSpPr>
        <p:cNvPr id="1" name=""/>
        <p:cNvGrpSpPr/>
        <p:nvPr/>
      </p:nvGrpSpPr>
      <p:grpSpPr>
        <a:xfrm>
          <a:off x="0" y="0"/>
          <a:ext cx="0" cy="0"/>
          <a:chOff x="0" y="0"/>
          <a:chExt cx="0" cy="0"/>
        </a:xfrm>
      </p:grpSpPr>
      <p:sp>
        <p:nvSpPr>
          <p:cNvPr id="2" name="Text 0"/>
          <p:cNvSpPr/>
          <p:nvPr/>
        </p:nvSpPr>
        <p:spPr>
          <a:xfrm>
            <a:off x="411480" y="182880"/>
            <a:ext cx="2926080" cy="201168"/>
          </a:xfrm>
          <a:prstGeom prst="rect">
            <a:avLst/>
          </a:prstGeom>
          <a:noFill/>
          <a:ln/>
        </p:spPr>
        <p:txBody>
          <a:bodyPr wrap="square" lIns="0" tIns="0" rIns="0" bIns="0" rtlCol="0" anchor="ctr"/>
          <a:lstStyle/>
          <a:p>
            <a:pPr indent="0" marL="0">
              <a:buNone/>
            </a:pPr>
            <a:r>
              <a:rPr lang="en-US" sz="800" b="1" spc="200" kern="0" dirty="0">
                <a:solidFill>
                  <a:srgbClr val="0F8A63"/>
                </a:solidFill>
                <a:latin typeface="Aptos" pitchFamily="34" charset="0"/>
                <a:ea typeface="Aptos" pitchFamily="34" charset="-122"/>
                <a:cs typeface="Aptos" pitchFamily="34" charset="-120"/>
              </a:rPr>
              <a:t>ROADSTAR  /  DISPATCHOS</a:t>
            </a:r>
            <a:endParaRPr lang="en-US" sz="800" dirty="0"/>
          </a:p>
        </p:txBody>
      </p:sp>
      <p:sp>
        <p:nvSpPr>
          <p:cNvPr id="3" name="Text 1"/>
          <p:cNvSpPr/>
          <p:nvPr/>
        </p:nvSpPr>
        <p:spPr>
          <a:xfrm>
            <a:off x="11292840" y="182880"/>
            <a:ext cx="457200" cy="201168"/>
          </a:xfrm>
          <a:prstGeom prst="rect">
            <a:avLst/>
          </a:prstGeom>
          <a:noFill/>
          <a:ln/>
        </p:spPr>
        <p:txBody>
          <a:bodyPr wrap="square" lIns="0" tIns="0" rIns="0" bIns="0" rtlCol="0" anchor="ctr"/>
          <a:lstStyle/>
          <a:p>
            <a:pPr algn="r" indent="0" marL="0">
              <a:buNone/>
            </a:pPr>
            <a:r>
              <a:rPr lang="en-US" sz="800" b="1" dirty="0">
                <a:solidFill>
                  <a:srgbClr val="61736B"/>
                </a:solidFill>
              </a:rPr>
              <a:t>02</a:t>
            </a:r>
            <a:endParaRPr lang="en-US" sz="800" dirty="0"/>
          </a:p>
        </p:txBody>
      </p:sp>
      <p:sp>
        <p:nvSpPr>
          <p:cNvPr id="4" name="Text 2"/>
          <p:cNvSpPr/>
          <p:nvPr/>
        </p:nvSpPr>
        <p:spPr>
          <a:xfrm>
            <a:off x="502920" y="566928"/>
            <a:ext cx="3200400" cy="182880"/>
          </a:xfrm>
          <a:prstGeom prst="rect">
            <a:avLst/>
          </a:prstGeom>
          <a:noFill/>
          <a:ln/>
        </p:spPr>
        <p:txBody>
          <a:bodyPr wrap="square" lIns="0" tIns="0" rIns="0" bIns="0" rtlCol="0" anchor="ctr"/>
          <a:lstStyle/>
          <a:p>
            <a:pPr indent="0" marL="0">
              <a:buNone/>
            </a:pPr>
            <a:r>
              <a:rPr lang="en-US" sz="800" b="1" spc="160" kern="0" dirty="0">
                <a:solidFill>
                  <a:srgbClr val="0F8A63"/>
                </a:solidFill>
              </a:rPr>
              <a:t>THE COST OF FRAGMENTATION</a:t>
            </a:r>
            <a:endParaRPr lang="en-US" sz="800" dirty="0"/>
          </a:p>
        </p:txBody>
      </p:sp>
      <p:sp>
        <p:nvSpPr>
          <p:cNvPr id="5" name="Text 3"/>
          <p:cNvSpPr/>
          <p:nvPr/>
        </p:nvSpPr>
        <p:spPr>
          <a:xfrm>
            <a:off x="502920" y="822960"/>
            <a:ext cx="10698480" cy="777240"/>
          </a:xfrm>
          <a:prstGeom prst="rect">
            <a:avLst/>
          </a:prstGeom>
          <a:noFill/>
          <a:ln/>
        </p:spPr>
        <p:txBody>
          <a:bodyPr wrap="square" lIns="0" tIns="0" rIns="0" bIns="0" rtlCol="0" anchor="ctr">
            <a:normAutofit/>
          </a:bodyPr>
          <a:lstStyle/>
          <a:p>
            <a:pPr indent="0" marL="0">
              <a:buNone/>
            </a:pPr>
            <a:r>
              <a:rPr lang="en-US" sz="3000" b="1" dirty="0">
                <a:solidFill>
                  <a:srgbClr val="10231D"/>
                </a:solidFill>
                <a:latin typeface="Aptos Display" pitchFamily="34" charset="0"/>
                <a:ea typeface="Aptos Display" pitchFamily="34" charset="-122"/>
                <a:cs typeface="Aptos Display" pitchFamily="34" charset="-120"/>
              </a:rPr>
              <a:t>Five disconnected tools turn dispatch into manual orchestration.</a:t>
            </a:r>
            <a:endParaRPr lang="en-US" sz="3000" dirty="0"/>
          </a:p>
        </p:txBody>
      </p:sp>
      <p:sp>
        <p:nvSpPr>
          <p:cNvPr id="6" name="Shape 4"/>
          <p:cNvSpPr/>
          <p:nvPr/>
        </p:nvSpPr>
        <p:spPr>
          <a:xfrm>
            <a:off x="548640" y="1874520"/>
            <a:ext cx="3438144" cy="1965960"/>
          </a:xfrm>
          <a:prstGeom prst="roundRect">
            <a:avLst>
              <a:gd name="adj" fmla="val 4651"/>
            </a:avLst>
          </a:prstGeom>
          <a:solidFill>
            <a:srgbClr val="FFFFFF"/>
          </a:solidFill>
          <a:ln w="12700">
            <a:solidFill>
              <a:srgbClr val="D7E4DE"/>
            </a:solidFill>
            <a:prstDash val="solid"/>
          </a:ln>
        </p:spPr>
      </p:sp>
      <p:sp>
        <p:nvSpPr>
          <p:cNvPr id="7" name="Text 5"/>
          <p:cNvSpPr/>
          <p:nvPr/>
        </p:nvSpPr>
        <p:spPr>
          <a:xfrm>
            <a:off x="777240" y="2148840"/>
            <a:ext cx="2926080" cy="502920"/>
          </a:xfrm>
          <a:prstGeom prst="rect">
            <a:avLst/>
          </a:prstGeom>
          <a:noFill/>
          <a:ln/>
        </p:spPr>
        <p:txBody>
          <a:bodyPr wrap="square" lIns="0" tIns="0" rIns="0" bIns="0" rtlCol="0" anchor="ctr">
            <a:normAutofit/>
          </a:bodyPr>
          <a:lstStyle/>
          <a:p>
            <a:pPr indent="0" marL="0">
              <a:buNone/>
            </a:pPr>
            <a:r>
              <a:rPr lang="en-US" sz="3600" b="1" dirty="0">
                <a:solidFill>
                  <a:srgbClr val="10231D"/>
                </a:solidFill>
              </a:rPr>
              <a:t>5</a:t>
            </a:r>
            <a:endParaRPr lang="en-US" sz="3600" dirty="0"/>
          </a:p>
        </p:txBody>
      </p:sp>
      <p:sp>
        <p:nvSpPr>
          <p:cNvPr id="8" name="Text 6"/>
          <p:cNvSpPr/>
          <p:nvPr/>
        </p:nvSpPr>
        <p:spPr>
          <a:xfrm>
            <a:off x="777240" y="2788920"/>
            <a:ext cx="2926080" cy="274320"/>
          </a:xfrm>
          <a:prstGeom prst="rect">
            <a:avLst/>
          </a:prstGeom>
          <a:noFill/>
          <a:ln/>
        </p:spPr>
        <p:txBody>
          <a:bodyPr wrap="square" lIns="0" tIns="0" rIns="0" bIns="0" rtlCol="0" anchor="ctr"/>
          <a:lstStyle/>
          <a:p>
            <a:pPr indent="0" marL="0">
              <a:buNone/>
            </a:pPr>
            <a:r>
              <a:rPr lang="en-US" sz="1400" b="1" dirty="0">
                <a:solidFill>
                  <a:srgbClr val="10231D"/>
                </a:solidFill>
              </a:rPr>
              <a:t>systems per dispatcher</a:t>
            </a:r>
            <a:endParaRPr lang="en-US" sz="1400" dirty="0"/>
          </a:p>
        </p:txBody>
      </p:sp>
      <p:sp>
        <p:nvSpPr>
          <p:cNvPr id="9" name="Text 7"/>
          <p:cNvSpPr/>
          <p:nvPr/>
        </p:nvSpPr>
        <p:spPr>
          <a:xfrm>
            <a:off x="777240" y="3182112"/>
            <a:ext cx="2834640" cy="411480"/>
          </a:xfrm>
          <a:prstGeom prst="rect">
            <a:avLst/>
          </a:prstGeom>
          <a:noFill/>
          <a:ln/>
        </p:spPr>
        <p:txBody>
          <a:bodyPr wrap="square" lIns="0" tIns="0" rIns="0" bIns="0" rtlCol="0" anchor="ctr">
            <a:normAutofit/>
          </a:bodyPr>
          <a:lstStyle/>
          <a:p>
            <a:pPr indent="0" marL="0">
              <a:buNone/>
            </a:pPr>
            <a:r>
              <a:rPr lang="en-US" sz="1000" dirty="0">
                <a:solidFill>
                  <a:srgbClr val="61736B"/>
                </a:solidFill>
              </a:rPr>
              <a:t>Load boards, ELD, TMS, rates and back office</a:t>
            </a:r>
            <a:endParaRPr lang="en-US" sz="1000" dirty="0"/>
          </a:p>
        </p:txBody>
      </p:sp>
      <p:sp>
        <p:nvSpPr>
          <p:cNvPr id="10" name="Shape 8"/>
          <p:cNvSpPr/>
          <p:nvPr/>
        </p:nvSpPr>
        <p:spPr>
          <a:xfrm>
            <a:off x="4370832" y="1874520"/>
            <a:ext cx="3438144" cy="1965960"/>
          </a:xfrm>
          <a:prstGeom prst="roundRect">
            <a:avLst>
              <a:gd name="adj" fmla="val 4651"/>
            </a:avLst>
          </a:prstGeom>
          <a:solidFill>
            <a:srgbClr val="FFFFFF"/>
          </a:solidFill>
          <a:ln w="12700">
            <a:solidFill>
              <a:srgbClr val="D7E4DE"/>
            </a:solidFill>
            <a:prstDash val="solid"/>
          </a:ln>
        </p:spPr>
      </p:sp>
      <p:sp>
        <p:nvSpPr>
          <p:cNvPr id="11" name="Text 9"/>
          <p:cNvSpPr/>
          <p:nvPr/>
        </p:nvSpPr>
        <p:spPr>
          <a:xfrm>
            <a:off x="4599432" y="2148840"/>
            <a:ext cx="2926080" cy="502920"/>
          </a:xfrm>
          <a:prstGeom prst="rect">
            <a:avLst/>
          </a:prstGeom>
          <a:noFill/>
          <a:ln/>
        </p:spPr>
        <p:txBody>
          <a:bodyPr wrap="square" lIns="0" tIns="0" rIns="0" bIns="0" rtlCol="0" anchor="ctr">
            <a:normAutofit/>
          </a:bodyPr>
          <a:lstStyle/>
          <a:p>
            <a:pPr indent="0" marL="0">
              <a:buNone/>
            </a:pPr>
            <a:r>
              <a:rPr lang="en-US" sz="3600" b="1" dirty="0">
                <a:solidFill>
                  <a:srgbClr val="10231D"/>
                </a:solidFill>
              </a:rPr>
              <a:t>1–3</a:t>
            </a:r>
            <a:endParaRPr lang="en-US" sz="3600" dirty="0"/>
          </a:p>
        </p:txBody>
      </p:sp>
      <p:sp>
        <p:nvSpPr>
          <p:cNvPr id="12" name="Text 10"/>
          <p:cNvSpPr/>
          <p:nvPr/>
        </p:nvSpPr>
        <p:spPr>
          <a:xfrm>
            <a:off x="4599432" y="2788920"/>
            <a:ext cx="2926080" cy="274320"/>
          </a:xfrm>
          <a:prstGeom prst="rect">
            <a:avLst/>
          </a:prstGeom>
          <a:noFill/>
          <a:ln/>
        </p:spPr>
        <p:txBody>
          <a:bodyPr wrap="square" lIns="0" tIns="0" rIns="0" bIns="0" rtlCol="0" anchor="ctr"/>
          <a:lstStyle/>
          <a:p>
            <a:pPr indent="0" marL="0">
              <a:buNone/>
            </a:pPr>
            <a:r>
              <a:rPr lang="en-US" sz="1400" b="1" dirty="0">
                <a:solidFill>
                  <a:srgbClr val="10231D"/>
                </a:solidFill>
              </a:rPr>
              <a:t>missed jobs per day</a:t>
            </a:r>
            <a:endParaRPr lang="en-US" sz="1400" dirty="0"/>
          </a:p>
        </p:txBody>
      </p:sp>
      <p:sp>
        <p:nvSpPr>
          <p:cNvPr id="13" name="Text 11"/>
          <p:cNvSpPr/>
          <p:nvPr/>
        </p:nvSpPr>
        <p:spPr>
          <a:xfrm>
            <a:off x="4599432" y="3182112"/>
            <a:ext cx="2834640" cy="411480"/>
          </a:xfrm>
          <a:prstGeom prst="rect">
            <a:avLst/>
          </a:prstGeom>
          <a:noFill/>
          <a:ln/>
        </p:spPr>
        <p:txBody>
          <a:bodyPr wrap="square" lIns="0" tIns="0" rIns="0" bIns="0" rtlCol="0" anchor="ctr">
            <a:normAutofit/>
          </a:bodyPr>
          <a:lstStyle/>
          <a:p>
            <a:pPr indent="0" marL="0">
              <a:buNone/>
            </a:pPr>
            <a:r>
              <a:rPr lang="en-US" sz="1000" dirty="0">
                <a:solidFill>
                  <a:srgbClr val="61736B"/>
                </a:solidFill>
              </a:rPr>
              <a:t>Check calls and reconciliation steal quoting time</a:t>
            </a:r>
            <a:endParaRPr lang="en-US" sz="1000" dirty="0"/>
          </a:p>
        </p:txBody>
      </p:sp>
      <p:sp>
        <p:nvSpPr>
          <p:cNvPr id="14" name="Shape 12"/>
          <p:cNvSpPr/>
          <p:nvPr/>
        </p:nvSpPr>
        <p:spPr>
          <a:xfrm>
            <a:off x="8193024" y="1874520"/>
            <a:ext cx="3438144" cy="1965960"/>
          </a:xfrm>
          <a:prstGeom prst="roundRect">
            <a:avLst>
              <a:gd name="adj" fmla="val 4651"/>
            </a:avLst>
          </a:prstGeom>
          <a:solidFill>
            <a:srgbClr val="FFFFFF"/>
          </a:solidFill>
          <a:ln w="12700">
            <a:solidFill>
              <a:srgbClr val="D7E4DE"/>
            </a:solidFill>
            <a:prstDash val="solid"/>
          </a:ln>
        </p:spPr>
      </p:sp>
      <p:sp>
        <p:nvSpPr>
          <p:cNvPr id="15" name="Text 13"/>
          <p:cNvSpPr/>
          <p:nvPr/>
        </p:nvSpPr>
        <p:spPr>
          <a:xfrm>
            <a:off x="8421624" y="2148840"/>
            <a:ext cx="2926080" cy="502920"/>
          </a:xfrm>
          <a:prstGeom prst="rect">
            <a:avLst/>
          </a:prstGeom>
          <a:noFill/>
          <a:ln/>
        </p:spPr>
        <p:txBody>
          <a:bodyPr wrap="square" lIns="0" tIns="0" rIns="0" bIns="0" rtlCol="0" anchor="ctr">
            <a:normAutofit/>
          </a:bodyPr>
          <a:lstStyle/>
          <a:p>
            <a:pPr indent="0" marL="0">
              <a:buNone/>
            </a:pPr>
            <a:r>
              <a:rPr lang="en-US" sz="2900" b="1" dirty="0">
                <a:solidFill>
                  <a:srgbClr val="0F8A63"/>
                </a:solidFill>
              </a:rPr>
              <a:t>$15K–$50K+</a:t>
            </a:r>
            <a:endParaRPr lang="en-US" sz="2900" dirty="0"/>
          </a:p>
        </p:txBody>
      </p:sp>
      <p:sp>
        <p:nvSpPr>
          <p:cNvPr id="16" name="Text 14"/>
          <p:cNvSpPr/>
          <p:nvPr/>
        </p:nvSpPr>
        <p:spPr>
          <a:xfrm>
            <a:off x="8421624" y="2788920"/>
            <a:ext cx="2926080" cy="274320"/>
          </a:xfrm>
          <a:prstGeom prst="rect">
            <a:avLst/>
          </a:prstGeom>
          <a:noFill/>
          <a:ln/>
        </p:spPr>
        <p:txBody>
          <a:bodyPr wrap="square" lIns="0" tIns="0" rIns="0" bIns="0" rtlCol="0" anchor="ctr"/>
          <a:lstStyle/>
          <a:p>
            <a:pPr indent="0" marL="0">
              <a:buNone/>
            </a:pPr>
            <a:r>
              <a:rPr lang="en-US" sz="1400" b="1" dirty="0">
                <a:solidFill>
                  <a:srgbClr val="10231D"/>
                </a:solidFill>
              </a:rPr>
              <a:t>monthly revenue at risk</a:t>
            </a:r>
            <a:endParaRPr lang="en-US" sz="1400" dirty="0"/>
          </a:p>
        </p:txBody>
      </p:sp>
      <p:sp>
        <p:nvSpPr>
          <p:cNvPr id="17" name="Text 15"/>
          <p:cNvSpPr/>
          <p:nvPr/>
        </p:nvSpPr>
        <p:spPr>
          <a:xfrm>
            <a:off x="8421624" y="3182112"/>
            <a:ext cx="2834640" cy="411480"/>
          </a:xfrm>
          <a:prstGeom prst="rect">
            <a:avLst/>
          </a:prstGeom>
          <a:noFill/>
          <a:ln/>
        </p:spPr>
        <p:txBody>
          <a:bodyPr wrap="square" lIns="0" tIns="0" rIns="0" bIns="0" rtlCol="0" anchor="ctr">
            <a:normAutofit/>
          </a:bodyPr>
          <a:lstStyle/>
          <a:p>
            <a:pPr indent="0" marL="0">
              <a:buNone/>
            </a:pPr>
            <a:r>
              <a:rPr lang="en-US" sz="1000" dirty="0">
                <a:solidFill>
                  <a:srgbClr val="61736B"/>
                </a:solidFill>
              </a:rPr>
              <a:t>Missed quotes plus unbilled detention</a:t>
            </a:r>
            <a:endParaRPr lang="en-US" sz="1000" dirty="0"/>
          </a:p>
        </p:txBody>
      </p:sp>
      <p:sp>
        <p:nvSpPr>
          <p:cNvPr id="18" name="Shape 16"/>
          <p:cNvSpPr/>
          <p:nvPr/>
        </p:nvSpPr>
        <p:spPr>
          <a:xfrm>
            <a:off x="548640" y="4297680"/>
            <a:ext cx="11064240" cy="1417320"/>
          </a:xfrm>
          <a:prstGeom prst="roundRect">
            <a:avLst>
              <a:gd name="adj" fmla="val 5161"/>
            </a:avLst>
          </a:prstGeom>
          <a:solidFill>
            <a:srgbClr val="071A16"/>
          </a:solidFill>
          <a:ln w="12700">
            <a:solidFill>
              <a:srgbClr val="071A16"/>
            </a:solidFill>
            <a:prstDash val="solid"/>
          </a:ln>
        </p:spPr>
      </p:sp>
      <p:sp>
        <p:nvSpPr>
          <p:cNvPr id="19" name="Text 17"/>
          <p:cNvSpPr/>
          <p:nvPr/>
        </p:nvSpPr>
        <p:spPr>
          <a:xfrm>
            <a:off x="868680" y="4599432"/>
            <a:ext cx="1554480" cy="228600"/>
          </a:xfrm>
          <a:prstGeom prst="rect">
            <a:avLst/>
          </a:prstGeom>
          <a:noFill/>
          <a:ln/>
        </p:spPr>
        <p:txBody>
          <a:bodyPr wrap="square" lIns="0" tIns="0" rIns="0" bIns="0" rtlCol="0" anchor="ctr"/>
          <a:lstStyle/>
          <a:p>
            <a:pPr indent="0" marL="0">
              <a:buNone/>
            </a:pPr>
            <a:r>
              <a:rPr lang="en-US" sz="1000" b="1" dirty="0">
                <a:solidFill>
                  <a:srgbClr val="2DD4A0"/>
                </a:solidFill>
              </a:rPr>
              <a:t>The hidden bug</a:t>
            </a:r>
            <a:endParaRPr lang="en-US" sz="1000" dirty="0"/>
          </a:p>
        </p:txBody>
      </p:sp>
      <p:sp>
        <p:nvSpPr>
          <p:cNvPr id="20" name="Text 18"/>
          <p:cNvSpPr/>
          <p:nvPr/>
        </p:nvSpPr>
        <p:spPr>
          <a:xfrm>
            <a:off x="2514600" y="4498848"/>
            <a:ext cx="8183880" cy="502920"/>
          </a:xfrm>
          <a:prstGeom prst="rect">
            <a:avLst/>
          </a:prstGeom>
          <a:noFill/>
          <a:ln/>
        </p:spPr>
        <p:txBody>
          <a:bodyPr wrap="square" lIns="0" tIns="0" rIns="0" bIns="0" rtlCol="0" anchor="ctr">
            <a:normAutofit/>
          </a:bodyPr>
          <a:lstStyle/>
          <a:p>
            <a:pPr indent="0" marL="0">
              <a:buNone/>
            </a:pPr>
            <a:r>
              <a:rPr lang="en-US" sz="2000" b="1" dirty="0">
                <a:solidFill>
                  <a:srgbClr val="FFFFFF"/>
                </a:solidFill>
              </a:rPr>
              <a:t>A driver can lose legal HOS while waiting at a dock—at the same moment the carrier begins earning detention.</a:t>
            </a:r>
            <a:endParaRPr lang="en-US" sz="2000" dirty="0"/>
          </a:p>
        </p:txBody>
      </p:sp>
      <p:sp>
        <p:nvSpPr>
          <p:cNvPr id="21" name="Text 19"/>
          <p:cNvSpPr/>
          <p:nvPr/>
        </p:nvSpPr>
        <p:spPr>
          <a:xfrm>
            <a:off x="2532888" y="5093208"/>
            <a:ext cx="8138160" cy="310896"/>
          </a:xfrm>
          <a:prstGeom prst="rect">
            <a:avLst/>
          </a:prstGeom>
          <a:noFill/>
          <a:ln/>
        </p:spPr>
        <p:txBody>
          <a:bodyPr wrap="square" lIns="0" tIns="0" rIns="0" bIns="0" rtlCol="0" anchor="ctr"/>
          <a:lstStyle/>
          <a:p>
            <a:pPr indent="0" marL="0">
              <a:buNone/>
            </a:pPr>
            <a:r>
              <a:rPr lang="en-US" sz="1050" dirty="0">
                <a:solidFill>
                  <a:srgbClr val="BFD7CF"/>
                </a:solidFill>
              </a:rPr>
              <a:t>RoadStar has to connect compliance, customer service and billing in one decision—not three after-the-fact reports.</a:t>
            </a:r>
            <a:endParaRPr lang="en-US" sz="1050" dirty="0"/>
          </a:p>
        </p:txBody>
      </p:sp>
      <p:sp>
        <p:nvSpPr>
          <p:cNvPr id="22" name="Text 20"/>
          <p:cNvSpPr/>
          <p:nvPr/>
        </p:nvSpPr>
        <p:spPr>
          <a:xfrm>
            <a:off x="566928" y="6355080"/>
            <a:ext cx="10698480" cy="164592"/>
          </a:xfrm>
          <a:prstGeom prst="rect">
            <a:avLst/>
          </a:prstGeom>
          <a:noFill/>
          <a:ln/>
        </p:spPr>
        <p:txBody>
          <a:bodyPr wrap="square" lIns="0" tIns="0" rIns="0" bIns="0" rtlCol="0" anchor="ctr"/>
          <a:lstStyle/>
          <a:p>
            <a:pPr indent="0" marL="0">
              <a:buNone/>
            </a:pPr>
            <a:r>
              <a:rPr lang="en-US" sz="700" dirty="0">
                <a:solidFill>
                  <a:srgbClr val="61736B"/>
                </a:solidFill>
              </a:rPr>
              <a:t>Source: Hackathon Project Brief, pp. 1–6. Opportunity figures are brief estimates, not guaranteed results.</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8"/>
        </a:solidFill>
      </p:bgPr>
    </p:bg>
    <p:spTree>
      <p:nvGrpSpPr>
        <p:cNvPr id="1" name=""/>
        <p:cNvGrpSpPr/>
        <p:nvPr/>
      </p:nvGrpSpPr>
      <p:grpSpPr>
        <a:xfrm>
          <a:off x="0" y="0"/>
          <a:ext cx="0" cy="0"/>
          <a:chOff x="0" y="0"/>
          <a:chExt cx="0" cy="0"/>
        </a:xfrm>
      </p:grpSpPr>
      <p:sp>
        <p:nvSpPr>
          <p:cNvPr id="2" name="Text 0"/>
          <p:cNvSpPr/>
          <p:nvPr/>
        </p:nvSpPr>
        <p:spPr>
          <a:xfrm>
            <a:off x="411480" y="182880"/>
            <a:ext cx="2926080" cy="201168"/>
          </a:xfrm>
          <a:prstGeom prst="rect">
            <a:avLst/>
          </a:prstGeom>
          <a:noFill/>
          <a:ln/>
        </p:spPr>
        <p:txBody>
          <a:bodyPr wrap="square" lIns="0" tIns="0" rIns="0" bIns="0" rtlCol="0" anchor="ctr"/>
          <a:lstStyle/>
          <a:p>
            <a:pPr indent="0" marL="0">
              <a:buNone/>
            </a:pPr>
            <a:r>
              <a:rPr lang="en-US" sz="800" b="1" spc="200" kern="0" dirty="0">
                <a:solidFill>
                  <a:srgbClr val="0F8A63"/>
                </a:solidFill>
                <a:latin typeface="Aptos" pitchFamily="34" charset="0"/>
                <a:ea typeface="Aptos" pitchFamily="34" charset="-122"/>
                <a:cs typeface="Aptos" pitchFamily="34" charset="-120"/>
              </a:rPr>
              <a:t>ROADSTAR  /  DISPATCHOS</a:t>
            </a:r>
            <a:endParaRPr lang="en-US" sz="800" dirty="0"/>
          </a:p>
        </p:txBody>
      </p:sp>
      <p:sp>
        <p:nvSpPr>
          <p:cNvPr id="3" name="Text 1"/>
          <p:cNvSpPr/>
          <p:nvPr/>
        </p:nvSpPr>
        <p:spPr>
          <a:xfrm>
            <a:off x="11292840" y="182880"/>
            <a:ext cx="457200" cy="201168"/>
          </a:xfrm>
          <a:prstGeom prst="rect">
            <a:avLst/>
          </a:prstGeom>
          <a:noFill/>
          <a:ln/>
        </p:spPr>
        <p:txBody>
          <a:bodyPr wrap="square" lIns="0" tIns="0" rIns="0" bIns="0" rtlCol="0" anchor="ctr"/>
          <a:lstStyle/>
          <a:p>
            <a:pPr algn="r" indent="0" marL="0">
              <a:buNone/>
            </a:pPr>
            <a:r>
              <a:rPr lang="en-US" sz="800" b="1" dirty="0">
                <a:solidFill>
                  <a:srgbClr val="61736B"/>
                </a:solidFill>
              </a:rPr>
              <a:t>03</a:t>
            </a:r>
            <a:endParaRPr lang="en-US" sz="800" dirty="0"/>
          </a:p>
        </p:txBody>
      </p:sp>
      <p:sp>
        <p:nvSpPr>
          <p:cNvPr id="4" name="Text 2"/>
          <p:cNvSpPr/>
          <p:nvPr/>
        </p:nvSpPr>
        <p:spPr>
          <a:xfrm>
            <a:off x="502920" y="566928"/>
            <a:ext cx="3200400" cy="182880"/>
          </a:xfrm>
          <a:prstGeom prst="rect">
            <a:avLst/>
          </a:prstGeom>
          <a:noFill/>
          <a:ln/>
        </p:spPr>
        <p:txBody>
          <a:bodyPr wrap="square" lIns="0" tIns="0" rIns="0" bIns="0" rtlCol="0" anchor="ctr"/>
          <a:lstStyle/>
          <a:p>
            <a:pPr indent="0" marL="0">
              <a:buNone/>
            </a:pPr>
            <a:r>
              <a:rPr lang="en-US" sz="800" b="1" spc="160" kern="0" dirty="0">
                <a:solidFill>
                  <a:srgbClr val="0F8A63"/>
                </a:solidFill>
              </a:rPr>
              <a:t>THE CLOSED OPERATIONAL LOOP</a:t>
            </a:r>
            <a:endParaRPr lang="en-US" sz="800" dirty="0"/>
          </a:p>
        </p:txBody>
      </p:sp>
      <p:sp>
        <p:nvSpPr>
          <p:cNvPr id="5" name="Text 3"/>
          <p:cNvSpPr/>
          <p:nvPr/>
        </p:nvSpPr>
        <p:spPr>
          <a:xfrm>
            <a:off x="502920" y="822960"/>
            <a:ext cx="11064240" cy="713232"/>
          </a:xfrm>
          <a:prstGeom prst="rect">
            <a:avLst/>
          </a:prstGeom>
          <a:noFill/>
          <a:ln/>
        </p:spPr>
        <p:txBody>
          <a:bodyPr wrap="square" lIns="0" tIns="0" rIns="0" bIns="0" rtlCol="0" anchor="ctr">
            <a:normAutofit/>
          </a:bodyPr>
          <a:lstStyle/>
          <a:p>
            <a:pPr indent="0" marL="0">
              <a:buNone/>
            </a:pPr>
            <a:r>
              <a:rPr lang="en-US" sz="2900" b="1" dirty="0">
                <a:solidFill>
                  <a:srgbClr val="10231D"/>
                </a:solidFill>
                <a:latin typeface="Aptos Display" pitchFamily="34" charset="0"/>
                <a:ea typeface="Aptos Display" pitchFamily="34" charset="-122"/>
                <a:cs typeface="Aptos Display" pitchFamily="34" charset="-120"/>
              </a:rPr>
              <a:t>One shared workspace moves a load from intake to auditable revenue.</a:t>
            </a:r>
            <a:endParaRPr lang="en-US" sz="2900" dirty="0"/>
          </a:p>
        </p:txBody>
      </p:sp>
      <p:sp>
        <p:nvSpPr>
          <p:cNvPr id="6" name="Text 4"/>
          <p:cNvSpPr/>
          <p:nvPr/>
        </p:nvSpPr>
        <p:spPr>
          <a:xfrm>
            <a:off x="566928" y="1874520"/>
            <a:ext cx="3108960" cy="320040"/>
          </a:xfrm>
          <a:prstGeom prst="rect">
            <a:avLst/>
          </a:prstGeom>
          <a:noFill/>
          <a:ln/>
        </p:spPr>
        <p:txBody>
          <a:bodyPr wrap="square" lIns="0" tIns="0" rIns="0" bIns="0" rtlCol="0" anchor="ctr"/>
          <a:lstStyle/>
          <a:p>
            <a:pPr indent="0" marL="0">
              <a:buNone/>
            </a:pPr>
            <a:r>
              <a:rPr lang="en-US" sz="1700" b="1" dirty="0">
                <a:solidFill>
                  <a:srgbClr val="10231D"/>
                </a:solidFill>
              </a:rPr>
              <a:t>RoadStar-owned workflow</a:t>
            </a:r>
            <a:endParaRPr lang="en-US" sz="1700" dirty="0"/>
          </a:p>
        </p:txBody>
      </p:sp>
      <p:sp>
        <p:nvSpPr>
          <p:cNvPr id="7" name="Shape 5"/>
          <p:cNvSpPr/>
          <p:nvPr/>
        </p:nvSpPr>
        <p:spPr>
          <a:xfrm>
            <a:off x="594360" y="2423160"/>
            <a:ext cx="182880" cy="182880"/>
          </a:xfrm>
          <a:prstGeom prst="ellipse">
            <a:avLst/>
          </a:prstGeom>
          <a:solidFill>
            <a:srgbClr val="0F8A63"/>
          </a:solidFill>
          <a:ln w="12700">
            <a:solidFill>
              <a:srgbClr val="0F8A63"/>
            </a:solidFill>
            <a:prstDash val="solid"/>
          </a:ln>
        </p:spPr>
      </p:sp>
      <p:sp>
        <p:nvSpPr>
          <p:cNvPr id="8" name="Text 6"/>
          <p:cNvSpPr/>
          <p:nvPr/>
        </p:nvSpPr>
        <p:spPr>
          <a:xfrm>
            <a:off x="594360" y="2455164"/>
            <a:ext cx="182880" cy="82296"/>
          </a:xfrm>
          <a:prstGeom prst="rect">
            <a:avLst/>
          </a:prstGeom>
          <a:noFill/>
          <a:ln/>
        </p:spPr>
        <p:txBody>
          <a:bodyPr wrap="square" lIns="0" tIns="0" rIns="0" bIns="0" rtlCol="0" anchor="ctr"/>
          <a:lstStyle/>
          <a:p>
            <a:pPr algn="ctr" indent="0" marL="0">
              <a:buNone/>
            </a:pPr>
            <a:r>
              <a:rPr lang="en-US" sz="600" b="1" dirty="0">
                <a:solidFill>
                  <a:srgbClr val="FFFFFF"/>
                </a:solidFill>
              </a:rPr>
              <a:t>1</a:t>
            </a:r>
            <a:endParaRPr lang="en-US" sz="600" dirty="0"/>
          </a:p>
        </p:txBody>
      </p:sp>
      <p:sp>
        <p:nvSpPr>
          <p:cNvPr id="9" name="Text 7"/>
          <p:cNvSpPr/>
          <p:nvPr/>
        </p:nvSpPr>
        <p:spPr>
          <a:xfrm>
            <a:off x="914400" y="2395728"/>
            <a:ext cx="2880360" cy="256032"/>
          </a:xfrm>
          <a:prstGeom prst="rect">
            <a:avLst/>
          </a:prstGeom>
          <a:noFill/>
          <a:ln/>
        </p:spPr>
        <p:txBody>
          <a:bodyPr wrap="square" lIns="0" tIns="0" rIns="0" bIns="0" rtlCol="0" anchor="ctr">
            <a:normAutofit/>
          </a:bodyPr>
          <a:lstStyle/>
          <a:p>
            <a:pPr indent="0" marL="0">
              <a:buNone/>
            </a:pPr>
            <a:r>
              <a:rPr lang="en-US" sz="1200" b="1" dirty="0">
                <a:solidFill>
                  <a:srgbClr val="10231D"/>
                </a:solidFill>
              </a:rPr>
              <a:t>Load board + document-assisted intake</a:t>
            </a:r>
            <a:endParaRPr lang="en-US" sz="1200" dirty="0"/>
          </a:p>
        </p:txBody>
      </p:sp>
      <p:sp>
        <p:nvSpPr>
          <p:cNvPr id="10" name="Shape 8"/>
          <p:cNvSpPr/>
          <p:nvPr/>
        </p:nvSpPr>
        <p:spPr>
          <a:xfrm>
            <a:off x="594360" y="2990088"/>
            <a:ext cx="182880" cy="182880"/>
          </a:xfrm>
          <a:prstGeom prst="ellipse">
            <a:avLst/>
          </a:prstGeom>
          <a:solidFill>
            <a:srgbClr val="0F8A63"/>
          </a:solidFill>
          <a:ln w="12700">
            <a:solidFill>
              <a:srgbClr val="0F8A63"/>
            </a:solidFill>
            <a:prstDash val="solid"/>
          </a:ln>
        </p:spPr>
      </p:sp>
      <p:sp>
        <p:nvSpPr>
          <p:cNvPr id="11" name="Text 9"/>
          <p:cNvSpPr/>
          <p:nvPr/>
        </p:nvSpPr>
        <p:spPr>
          <a:xfrm>
            <a:off x="594360" y="3022092"/>
            <a:ext cx="182880" cy="82296"/>
          </a:xfrm>
          <a:prstGeom prst="rect">
            <a:avLst/>
          </a:prstGeom>
          <a:noFill/>
          <a:ln/>
        </p:spPr>
        <p:txBody>
          <a:bodyPr wrap="square" lIns="0" tIns="0" rIns="0" bIns="0" rtlCol="0" anchor="ctr"/>
          <a:lstStyle/>
          <a:p>
            <a:pPr algn="ctr" indent="0" marL="0">
              <a:buNone/>
            </a:pPr>
            <a:r>
              <a:rPr lang="en-US" sz="600" b="1" dirty="0">
                <a:solidFill>
                  <a:srgbClr val="FFFFFF"/>
                </a:solidFill>
              </a:rPr>
              <a:t>2</a:t>
            </a:r>
            <a:endParaRPr lang="en-US" sz="600" dirty="0"/>
          </a:p>
        </p:txBody>
      </p:sp>
      <p:sp>
        <p:nvSpPr>
          <p:cNvPr id="12" name="Text 10"/>
          <p:cNvSpPr/>
          <p:nvPr/>
        </p:nvSpPr>
        <p:spPr>
          <a:xfrm>
            <a:off x="914400" y="2962656"/>
            <a:ext cx="2880360" cy="256032"/>
          </a:xfrm>
          <a:prstGeom prst="rect">
            <a:avLst/>
          </a:prstGeom>
          <a:noFill/>
          <a:ln/>
        </p:spPr>
        <p:txBody>
          <a:bodyPr wrap="square" lIns="0" tIns="0" rIns="0" bIns="0" rtlCol="0" anchor="ctr">
            <a:normAutofit/>
          </a:bodyPr>
          <a:lstStyle/>
          <a:p>
            <a:pPr indent="0" marL="0">
              <a:buNone/>
            </a:pPr>
            <a:r>
              <a:rPr lang="en-US" sz="1200" b="1" dirty="0">
                <a:solidFill>
                  <a:srgbClr val="10231D"/>
                </a:solidFill>
              </a:rPr>
              <a:t>Eligibility, HOS and capacity checks</a:t>
            </a:r>
            <a:endParaRPr lang="en-US" sz="1200" dirty="0"/>
          </a:p>
        </p:txBody>
      </p:sp>
      <p:sp>
        <p:nvSpPr>
          <p:cNvPr id="13" name="Shape 11"/>
          <p:cNvSpPr/>
          <p:nvPr/>
        </p:nvSpPr>
        <p:spPr>
          <a:xfrm>
            <a:off x="594360" y="3557016"/>
            <a:ext cx="182880" cy="182880"/>
          </a:xfrm>
          <a:prstGeom prst="ellipse">
            <a:avLst/>
          </a:prstGeom>
          <a:solidFill>
            <a:srgbClr val="0F8A63"/>
          </a:solidFill>
          <a:ln w="12700">
            <a:solidFill>
              <a:srgbClr val="0F8A63"/>
            </a:solidFill>
            <a:prstDash val="solid"/>
          </a:ln>
        </p:spPr>
      </p:sp>
      <p:sp>
        <p:nvSpPr>
          <p:cNvPr id="14" name="Text 12"/>
          <p:cNvSpPr/>
          <p:nvPr/>
        </p:nvSpPr>
        <p:spPr>
          <a:xfrm>
            <a:off x="594360" y="3589020"/>
            <a:ext cx="182880" cy="82296"/>
          </a:xfrm>
          <a:prstGeom prst="rect">
            <a:avLst/>
          </a:prstGeom>
          <a:noFill/>
          <a:ln/>
        </p:spPr>
        <p:txBody>
          <a:bodyPr wrap="square" lIns="0" tIns="0" rIns="0" bIns="0" rtlCol="0" anchor="ctr"/>
          <a:lstStyle/>
          <a:p>
            <a:pPr algn="ctr" indent="0" marL="0">
              <a:buNone/>
            </a:pPr>
            <a:r>
              <a:rPr lang="en-US" sz="600" b="1" dirty="0">
                <a:solidFill>
                  <a:srgbClr val="FFFFFF"/>
                </a:solidFill>
              </a:rPr>
              <a:t>3</a:t>
            </a:r>
            <a:endParaRPr lang="en-US" sz="600" dirty="0"/>
          </a:p>
        </p:txBody>
      </p:sp>
      <p:sp>
        <p:nvSpPr>
          <p:cNvPr id="15" name="Text 13"/>
          <p:cNvSpPr/>
          <p:nvPr/>
        </p:nvSpPr>
        <p:spPr>
          <a:xfrm>
            <a:off x="914400" y="3529584"/>
            <a:ext cx="2880360" cy="256032"/>
          </a:xfrm>
          <a:prstGeom prst="rect">
            <a:avLst/>
          </a:prstGeom>
          <a:noFill/>
          <a:ln/>
        </p:spPr>
        <p:txBody>
          <a:bodyPr wrap="square" lIns="0" tIns="0" rIns="0" bIns="0" rtlCol="0" anchor="ctr">
            <a:normAutofit/>
          </a:bodyPr>
          <a:lstStyle/>
          <a:p>
            <a:pPr indent="0" marL="0">
              <a:buNone/>
            </a:pPr>
            <a:r>
              <a:rPr lang="en-US" sz="1200" b="1" dirty="0">
                <a:solidFill>
                  <a:srgbClr val="10231D"/>
                </a:solidFill>
              </a:rPr>
              <a:t>Approval-first assignments and decision log</a:t>
            </a:r>
            <a:endParaRPr lang="en-US" sz="1200" dirty="0"/>
          </a:p>
        </p:txBody>
      </p:sp>
      <p:sp>
        <p:nvSpPr>
          <p:cNvPr id="16" name="Shape 14"/>
          <p:cNvSpPr/>
          <p:nvPr/>
        </p:nvSpPr>
        <p:spPr>
          <a:xfrm>
            <a:off x="594360" y="4123944"/>
            <a:ext cx="182880" cy="182880"/>
          </a:xfrm>
          <a:prstGeom prst="ellipse">
            <a:avLst/>
          </a:prstGeom>
          <a:solidFill>
            <a:srgbClr val="0F8A63"/>
          </a:solidFill>
          <a:ln w="12700">
            <a:solidFill>
              <a:srgbClr val="0F8A63"/>
            </a:solidFill>
            <a:prstDash val="solid"/>
          </a:ln>
        </p:spPr>
      </p:sp>
      <p:sp>
        <p:nvSpPr>
          <p:cNvPr id="17" name="Text 15"/>
          <p:cNvSpPr/>
          <p:nvPr/>
        </p:nvSpPr>
        <p:spPr>
          <a:xfrm>
            <a:off x="594360" y="4155948"/>
            <a:ext cx="182880" cy="82296"/>
          </a:xfrm>
          <a:prstGeom prst="rect">
            <a:avLst/>
          </a:prstGeom>
          <a:noFill/>
          <a:ln/>
        </p:spPr>
        <p:txBody>
          <a:bodyPr wrap="square" lIns="0" tIns="0" rIns="0" bIns="0" rtlCol="0" anchor="ctr"/>
          <a:lstStyle/>
          <a:p>
            <a:pPr algn="ctr" indent="0" marL="0">
              <a:buNone/>
            </a:pPr>
            <a:r>
              <a:rPr lang="en-US" sz="600" b="1" dirty="0">
                <a:solidFill>
                  <a:srgbClr val="FFFFFF"/>
                </a:solidFill>
              </a:rPr>
              <a:t>4</a:t>
            </a:r>
            <a:endParaRPr lang="en-US" sz="600" dirty="0"/>
          </a:p>
        </p:txBody>
      </p:sp>
      <p:sp>
        <p:nvSpPr>
          <p:cNvPr id="18" name="Text 16"/>
          <p:cNvSpPr/>
          <p:nvPr/>
        </p:nvSpPr>
        <p:spPr>
          <a:xfrm>
            <a:off x="914400" y="4096512"/>
            <a:ext cx="2880360" cy="256032"/>
          </a:xfrm>
          <a:prstGeom prst="rect">
            <a:avLst/>
          </a:prstGeom>
          <a:noFill/>
          <a:ln/>
        </p:spPr>
        <p:txBody>
          <a:bodyPr wrap="square" lIns="0" tIns="0" rIns="0" bIns="0" rtlCol="0" anchor="ctr">
            <a:normAutofit/>
          </a:bodyPr>
          <a:lstStyle/>
          <a:p>
            <a:pPr indent="0" marL="0">
              <a:buNone/>
            </a:pPr>
            <a:r>
              <a:rPr lang="en-US" sz="1200" b="1" dirty="0">
                <a:solidFill>
                  <a:srgbClr val="10231D"/>
                </a:solidFill>
              </a:rPr>
              <a:t>Driver acceptance, telemetry and geofences</a:t>
            </a:r>
            <a:endParaRPr lang="en-US" sz="1200" dirty="0"/>
          </a:p>
        </p:txBody>
      </p:sp>
      <p:sp>
        <p:nvSpPr>
          <p:cNvPr id="19" name="Shape 17"/>
          <p:cNvSpPr/>
          <p:nvPr/>
        </p:nvSpPr>
        <p:spPr>
          <a:xfrm>
            <a:off x="594360" y="4690872"/>
            <a:ext cx="182880" cy="182880"/>
          </a:xfrm>
          <a:prstGeom prst="ellipse">
            <a:avLst/>
          </a:prstGeom>
          <a:solidFill>
            <a:srgbClr val="0F8A63"/>
          </a:solidFill>
          <a:ln w="12700">
            <a:solidFill>
              <a:srgbClr val="0F8A63"/>
            </a:solidFill>
            <a:prstDash val="solid"/>
          </a:ln>
        </p:spPr>
      </p:sp>
      <p:sp>
        <p:nvSpPr>
          <p:cNvPr id="20" name="Text 18"/>
          <p:cNvSpPr/>
          <p:nvPr/>
        </p:nvSpPr>
        <p:spPr>
          <a:xfrm>
            <a:off x="594360" y="4722876"/>
            <a:ext cx="182880" cy="82296"/>
          </a:xfrm>
          <a:prstGeom prst="rect">
            <a:avLst/>
          </a:prstGeom>
          <a:noFill/>
          <a:ln/>
        </p:spPr>
        <p:txBody>
          <a:bodyPr wrap="square" lIns="0" tIns="0" rIns="0" bIns="0" rtlCol="0" anchor="ctr"/>
          <a:lstStyle/>
          <a:p>
            <a:pPr algn="ctr" indent="0" marL="0">
              <a:buNone/>
            </a:pPr>
            <a:r>
              <a:rPr lang="en-US" sz="600" b="1" dirty="0">
                <a:solidFill>
                  <a:srgbClr val="FFFFFF"/>
                </a:solidFill>
              </a:rPr>
              <a:t>5</a:t>
            </a:r>
            <a:endParaRPr lang="en-US" sz="600" dirty="0"/>
          </a:p>
        </p:txBody>
      </p:sp>
      <p:sp>
        <p:nvSpPr>
          <p:cNvPr id="21" name="Text 19"/>
          <p:cNvSpPr/>
          <p:nvPr/>
        </p:nvSpPr>
        <p:spPr>
          <a:xfrm>
            <a:off x="914400" y="4663440"/>
            <a:ext cx="2880360" cy="256032"/>
          </a:xfrm>
          <a:prstGeom prst="rect">
            <a:avLst/>
          </a:prstGeom>
          <a:noFill/>
          <a:ln/>
        </p:spPr>
        <p:txBody>
          <a:bodyPr wrap="square" lIns="0" tIns="0" rIns="0" bIns="0" rtlCol="0" anchor="ctr">
            <a:normAutofit/>
          </a:bodyPr>
          <a:lstStyle/>
          <a:p>
            <a:pPr indent="0" marL="0">
              <a:buNone/>
            </a:pPr>
            <a:r>
              <a:rPr lang="en-US" sz="1200" b="1" dirty="0">
                <a:solidFill>
                  <a:srgbClr val="10231D"/>
                </a:solidFill>
              </a:rPr>
              <a:t>Detention evidence and KPI replay</a:t>
            </a:r>
            <a:endParaRPr lang="en-US" sz="1200" dirty="0"/>
          </a:p>
        </p:txBody>
      </p:sp>
      <p:sp>
        <p:nvSpPr>
          <p:cNvPr id="22" name="Shape 20"/>
          <p:cNvSpPr/>
          <p:nvPr/>
        </p:nvSpPr>
        <p:spPr>
          <a:xfrm>
            <a:off x="4215384" y="1719072"/>
            <a:ext cx="7434072" cy="4215384"/>
          </a:xfrm>
          <a:prstGeom prst="roundRect">
            <a:avLst>
              <a:gd name="adj" fmla="val 1735"/>
            </a:avLst>
          </a:prstGeom>
          <a:solidFill>
            <a:srgbClr val="FFFFFF"/>
          </a:solidFill>
          <a:ln w="15240">
            <a:solidFill>
              <a:srgbClr val="D7E4DE"/>
            </a:solidFill>
            <a:prstDash val="solid"/>
          </a:ln>
          <a:effectLst>
            <a:outerShdw sx="100000" sy="100000" kx="0" ky="0" algn="bl" rotWithShape="0" blurRad="25400" dist="50800" dir="2700000">
              <a:srgbClr val="17362C">
                <a:alpha val="16000"/>
              </a:srgbClr>
            </a:outerShdw>
          </a:effectLst>
        </p:spPr>
      </p:sp>
      <p:pic>
        <p:nvPicPr>
          <p:cNvPr id="23" name="Image 0" descr="C:\Users\Sawaa\Documents\RoadStar DispatchOS\ RoadStar DispatchOS\deliverables\pitch-deck\assets\01_dashboard.png">    </p:cNvPr>
          <p:cNvPicPr>
            <a:picLocks noChangeAspect="1"/>
          </p:cNvPicPr>
          <p:nvPr/>
        </p:nvPicPr>
        <p:blipFill>
          <a:blip r:embed="rId1"/>
          <a:stretch>
            <a:fillRect/>
          </a:stretch>
        </p:blipFill>
        <p:spPr>
          <a:xfrm>
            <a:off x="4251960" y="1755648"/>
            <a:ext cx="7360920" cy="4142232"/>
          </a:xfrm>
          <a:prstGeom prst="rect">
            <a:avLst/>
          </a:prstGeom>
        </p:spPr>
      </p:pic>
      <p:sp>
        <p:nvSpPr>
          <p:cNvPr id="24" name="Shape 21"/>
          <p:cNvSpPr/>
          <p:nvPr/>
        </p:nvSpPr>
        <p:spPr>
          <a:xfrm>
            <a:off x="594360" y="6053328"/>
            <a:ext cx="1234440" cy="292608"/>
          </a:xfrm>
          <a:prstGeom prst="roundRect">
            <a:avLst>
              <a:gd name="adj" fmla="val 25000"/>
            </a:avLst>
          </a:prstGeom>
          <a:solidFill>
            <a:srgbClr val="0F8A63"/>
          </a:solidFill>
          <a:ln w="12700">
            <a:solidFill>
              <a:srgbClr val="0F8A63"/>
            </a:solidFill>
            <a:prstDash val="solid"/>
          </a:ln>
        </p:spPr>
      </p:sp>
      <p:sp>
        <p:nvSpPr>
          <p:cNvPr id="25" name="Text 22"/>
          <p:cNvSpPr/>
          <p:nvPr/>
        </p:nvSpPr>
        <p:spPr>
          <a:xfrm>
            <a:off x="667512" y="6112764"/>
            <a:ext cx="1088136" cy="146304"/>
          </a:xfrm>
          <a:prstGeom prst="rect">
            <a:avLst/>
          </a:prstGeom>
          <a:noFill/>
          <a:ln/>
        </p:spPr>
        <p:txBody>
          <a:bodyPr wrap="square" lIns="0" tIns="0" rIns="0" bIns="0" rtlCol="0" anchor="ctr">
            <a:normAutofit/>
          </a:bodyPr>
          <a:lstStyle/>
          <a:p>
            <a:pPr algn="ctr" indent="0" marL="0">
              <a:buNone/>
            </a:pPr>
            <a:r>
              <a:rPr lang="en-US" sz="750" b="1" dirty="0">
                <a:solidFill>
                  <a:srgbClr val="FFFFFF"/>
                </a:solidFill>
              </a:rPr>
              <a:t>REALTIME</a:t>
            </a:r>
            <a:endParaRPr lang="en-US" sz="750" dirty="0"/>
          </a:p>
        </p:txBody>
      </p:sp>
      <p:sp>
        <p:nvSpPr>
          <p:cNvPr id="26" name="Shape 23"/>
          <p:cNvSpPr/>
          <p:nvPr/>
        </p:nvSpPr>
        <p:spPr>
          <a:xfrm>
            <a:off x="2011680" y="6053328"/>
            <a:ext cx="1234440" cy="292608"/>
          </a:xfrm>
          <a:prstGeom prst="roundRect">
            <a:avLst>
              <a:gd name="adj" fmla="val 25000"/>
            </a:avLst>
          </a:prstGeom>
          <a:solidFill>
            <a:srgbClr val="0F8A63"/>
          </a:solidFill>
          <a:ln w="12700">
            <a:solidFill>
              <a:srgbClr val="0F8A63"/>
            </a:solidFill>
            <a:prstDash val="solid"/>
          </a:ln>
        </p:spPr>
      </p:sp>
      <p:sp>
        <p:nvSpPr>
          <p:cNvPr id="27" name="Text 24"/>
          <p:cNvSpPr/>
          <p:nvPr/>
        </p:nvSpPr>
        <p:spPr>
          <a:xfrm>
            <a:off x="2084832" y="6112764"/>
            <a:ext cx="1088136" cy="146304"/>
          </a:xfrm>
          <a:prstGeom prst="rect">
            <a:avLst/>
          </a:prstGeom>
          <a:noFill/>
          <a:ln/>
        </p:spPr>
        <p:txBody>
          <a:bodyPr wrap="square" lIns="0" tIns="0" rIns="0" bIns="0" rtlCol="0" anchor="ctr">
            <a:normAutofit/>
          </a:bodyPr>
          <a:lstStyle/>
          <a:p>
            <a:pPr algn="ctr" indent="0" marL="0">
              <a:buNone/>
            </a:pPr>
            <a:r>
              <a:rPr lang="en-US" sz="750" b="1" dirty="0">
                <a:solidFill>
                  <a:srgbClr val="FFFFFF"/>
                </a:solidFill>
              </a:rPr>
              <a:t>ROLE-SAFE</a:t>
            </a:r>
            <a:endParaRPr lang="en-US" sz="750" dirty="0"/>
          </a:p>
        </p:txBody>
      </p:sp>
      <p:sp>
        <p:nvSpPr>
          <p:cNvPr id="28" name="Shape 25"/>
          <p:cNvSpPr/>
          <p:nvPr/>
        </p:nvSpPr>
        <p:spPr>
          <a:xfrm>
            <a:off x="3429000" y="6053328"/>
            <a:ext cx="1234440" cy="292608"/>
          </a:xfrm>
          <a:prstGeom prst="roundRect">
            <a:avLst>
              <a:gd name="adj" fmla="val 25000"/>
            </a:avLst>
          </a:prstGeom>
          <a:solidFill>
            <a:srgbClr val="3577D4"/>
          </a:solidFill>
          <a:ln w="12700">
            <a:solidFill>
              <a:srgbClr val="3577D4"/>
            </a:solidFill>
            <a:prstDash val="solid"/>
          </a:ln>
        </p:spPr>
      </p:sp>
      <p:sp>
        <p:nvSpPr>
          <p:cNvPr id="29" name="Text 26"/>
          <p:cNvSpPr/>
          <p:nvPr/>
        </p:nvSpPr>
        <p:spPr>
          <a:xfrm>
            <a:off x="3502152" y="6112764"/>
            <a:ext cx="1088136" cy="146304"/>
          </a:xfrm>
          <a:prstGeom prst="rect">
            <a:avLst/>
          </a:prstGeom>
          <a:noFill/>
          <a:ln/>
        </p:spPr>
        <p:txBody>
          <a:bodyPr wrap="square" lIns="0" tIns="0" rIns="0" bIns="0" rtlCol="0" anchor="ctr">
            <a:normAutofit/>
          </a:bodyPr>
          <a:lstStyle/>
          <a:p>
            <a:pPr algn="ctr" indent="0" marL="0">
              <a:buNone/>
            </a:pPr>
            <a:r>
              <a:rPr lang="en-US" sz="750" b="1" dirty="0">
                <a:solidFill>
                  <a:srgbClr val="FFFFFF"/>
                </a:solidFill>
              </a:rPr>
              <a:t>EXPLAINABLE</a:t>
            </a:r>
            <a:endParaRPr lang="en-US" sz="750" dirty="0"/>
          </a:p>
        </p:txBody>
      </p:sp>
      <p:sp>
        <p:nvSpPr>
          <p:cNvPr id="30" name="Shape 27"/>
          <p:cNvSpPr/>
          <p:nvPr/>
        </p:nvSpPr>
        <p:spPr>
          <a:xfrm>
            <a:off x="4846320" y="6053328"/>
            <a:ext cx="1234440" cy="292608"/>
          </a:xfrm>
          <a:prstGeom prst="roundRect">
            <a:avLst>
              <a:gd name="adj" fmla="val 25000"/>
            </a:avLst>
          </a:prstGeom>
          <a:solidFill>
            <a:srgbClr val="0F8A63"/>
          </a:solidFill>
          <a:ln w="12700">
            <a:solidFill>
              <a:srgbClr val="0F8A63"/>
            </a:solidFill>
            <a:prstDash val="solid"/>
          </a:ln>
        </p:spPr>
      </p:sp>
      <p:sp>
        <p:nvSpPr>
          <p:cNvPr id="31" name="Text 28"/>
          <p:cNvSpPr/>
          <p:nvPr/>
        </p:nvSpPr>
        <p:spPr>
          <a:xfrm>
            <a:off x="4919472" y="6112764"/>
            <a:ext cx="1088136" cy="146304"/>
          </a:xfrm>
          <a:prstGeom prst="rect">
            <a:avLst/>
          </a:prstGeom>
          <a:noFill/>
          <a:ln/>
        </p:spPr>
        <p:txBody>
          <a:bodyPr wrap="square" lIns="0" tIns="0" rIns="0" bIns="0" rtlCol="0" anchor="ctr">
            <a:normAutofit/>
          </a:bodyPr>
          <a:lstStyle/>
          <a:p>
            <a:pPr algn="ctr" indent="0" marL="0">
              <a:buNone/>
            </a:pPr>
            <a:r>
              <a:rPr lang="en-US" sz="750" b="1" dirty="0">
                <a:solidFill>
                  <a:srgbClr val="FFFFFF"/>
                </a:solidFill>
              </a:rPr>
              <a:t>REVISION-CHECKED</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1A16"/>
        </a:solidFill>
      </p:bgPr>
    </p:bg>
    <p:spTree>
      <p:nvGrpSpPr>
        <p:cNvPr id="1" name=""/>
        <p:cNvGrpSpPr/>
        <p:nvPr/>
      </p:nvGrpSpPr>
      <p:grpSpPr>
        <a:xfrm>
          <a:off x="0" y="0"/>
          <a:ext cx="0" cy="0"/>
          <a:chOff x="0" y="0"/>
          <a:chExt cx="0" cy="0"/>
        </a:xfrm>
      </p:grpSpPr>
      <p:sp>
        <p:nvSpPr>
          <p:cNvPr id="2" name="Text 0"/>
          <p:cNvSpPr/>
          <p:nvPr/>
        </p:nvSpPr>
        <p:spPr>
          <a:xfrm>
            <a:off x="411480" y="182880"/>
            <a:ext cx="2926080" cy="201168"/>
          </a:xfrm>
          <a:prstGeom prst="rect">
            <a:avLst/>
          </a:prstGeom>
          <a:noFill/>
          <a:ln/>
        </p:spPr>
        <p:txBody>
          <a:bodyPr wrap="square" lIns="0" tIns="0" rIns="0" bIns="0" rtlCol="0" anchor="ctr"/>
          <a:lstStyle/>
          <a:p>
            <a:pPr indent="0" marL="0">
              <a:buNone/>
            </a:pPr>
            <a:r>
              <a:rPr lang="en-US" sz="800" b="1" spc="200" kern="0" dirty="0">
                <a:solidFill>
                  <a:srgbClr val="2DD4A0"/>
                </a:solidFill>
                <a:latin typeface="Aptos" pitchFamily="34" charset="0"/>
                <a:ea typeface="Aptos" pitchFamily="34" charset="-122"/>
                <a:cs typeface="Aptos" pitchFamily="34" charset="-120"/>
              </a:rPr>
              <a:t>ROADSTAR  /  DISPATCHOS</a:t>
            </a:r>
            <a:endParaRPr lang="en-US" sz="800" dirty="0"/>
          </a:p>
        </p:txBody>
      </p:sp>
      <p:sp>
        <p:nvSpPr>
          <p:cNvPr id="3" name="Text 1"/>
          <p:cNvSpPr/>
          <p:nvPr/>
        </p:nvSpPr>
        <p:spPr>
          <a:xfrm>
            <a:off x="11292840" y="182880"/>
            <a:ext cx="457200" cy="201168"/>
          </a:xfrm>
          <a:prstGeom prst="rect">
            <a:avLst/>
          </a:prstGeom>
          <a:noFill/>
          <a:ln/>
        </p:spPr>
        <p:txBody>
          <a:bodyPr wrap="square" lIns="0" tIns="0" rIns="0" bIns="0" rtlCol="0" anchor="ctr"/>
          <a:lstStyle/>
          <a:p>
            <a:pPr algn="r" indent="0" marL="0">
              <a:buNone/>
            </a:pPr>
            <a:r>
              <a:rPr lang="en-US" sz="800" b="1" dirty="0">
                <a:solidFill>
                  <a:srgbClr val="8FC8B5"/>
                </a:solidFill>
              </a:rPr>
              <a:t>04</a:t>
            </a:r>
            <a:endParaRPr lang="en-US" sz="800" dirty="0"/>
          </a:p>
        </p:txBody>
      </p:sp>
      <p:sp>
        <p:nvSpPr>
          <p:cNvPr id="4" name="Text 2"/>
          <p:cNvSpPr/>
          <p:nvPr/>
        </p:nvSpPr>
        <p:spPr>
          <a:xfrm>
            <a:off x="502920" y="566928"/>
            <a:ext cx="3657600" cy="182880"/>
          </a:xfrm>
          <a:prstGeom prst="rect">
            <a:avLst/>
          </a:prstGeom>
          <a:noFill/>
          <a:ln/>
        </p:spPr>
        <p:txBody>
          <a:bodyPr wrap="square" lIns="0" tIns="0" rIns="0" bIns="0" rtlCol="0" anchor="ctr"/>
          <a:lstStyle/>
          <a:p>
            <a:pPr indent="0" marL="0">
              <a:buNone/>
            </a:pPr>
            <a:r>
              <a:rPr lang="en-US" sz="800" b="1" spc="160" kern="0" dirty="0">
                <a:solidFill>
                  <a:srgbClr val="2DD4A0"/>
                </a:solidFill>
              </a:rPr>
              <a:t>PHYSICAL PLANNING BEFORE DISPATCH</a:t>
            </a:r>
            <a:endParaRPr lang="en-US" sz="800" dirty="0"/>
          </a:p>
        </p:txBody>
      </p:sp>
      <p:sp>
        <p:nvSpPr>
          <p:cNvPr id="5" name="Text 3"/>
          <p:cNvSpPr/>
          <p:nvPr/>
        </p:nvSpPr>
        <p:spPr>
          <a:xfrm>
            <a:off x="502920" y="822960"/>
            <a:ext cx="11064240" cy="713232"/>
          </a:xfrm>
          <a:prstGeom prst="rect">
            <a:avLst/>
          </a:prstGeom>
          <a:noFill/>
          <a:ln/>
        </p:spPr>
        <p:txBody>
          <a:bodyPr wrap="square" lIns="0" tIns="0" rIns="0" bIns="0" rtlCol="0" anchor="ctr">
            <a:normAutofit/>
          </a:bodyPr>
          <a:lstStyle/>
          <a:p>
            <a:pPr indent="0" marL="0">
              <a:buNone/>
            </a:pPr>
            <a:r>
              <a:rPr lang="en-US" sz="2900" b="1" dirty="0">
                <a:solidFill>
                  <a:srgbClr val="FFFFFF"/>
                </a:solidFill>
                <a:latin typeface="Aptos Display" pitchFamily="34" charset="0"/>
                <a:ea typeface="Aptos Display" pitchFamily="34" charset="-122"/>
                <a:cs typeface="Aptos Display" pitchFamily="34" charset="-120"/>
              </a:rPr>
              <a:t>Every mixed load becomes a safe, explainable 3D plan before wheels move.</a:t>
            </a:r>
            <a:endParaRPr lang="en-US" sz="2900" dirty="0"/>
          </a:p>
        </p:txBody>
      </p:sp>
      <p:sp>
        <p:nvSpPr>
          <p:cNvPr id="6" name="Shape 4"/>
          <p:cNvSpPr/>
          <p:nvPr/>
        </p:nvSpPr>
        <p:spPr>
          <a:xfrm>
            <a:off x="530352" y="1627632"/>
            <a:ext cx="11137392" cy="4663440"/>
          </a:xfrm>
          <a:prstGeom prst="roundRect">
            <a:avLst>
              <a:gd name="adj" fmla="val 1569"/>
            </a:avLst>
          </a:prstGeom>
          <a:solidFill>
            <a:srgbClr val="FFFFFF"/>
          </a:solidFill>
          <a:ln w="15240">
            <a:solidFill>
              <a:srgbClr val="D7E4DE"/>
            </a:solidFill>
            <a:prstDash val="solid"/>
          </a:ln>
          <a:effectLst>
            <a:outerShdw sx="100000" sy="100000" kx="0" ky="0" algn="bl" rotWithShape="0" blurRad="25400" dist="50800" dir="2700000">
              <a:srgbClr val="17362C">
                <a:alpha val="16000"/>
              </a:srgbClr>
            </a:outerShdw>
          </a:effectLst>
        </p:spPr>
      </p:sp>
      <p:pic>
        <p:nvPicPr>
          <p:cNvPr id="7" name="Image 0" descr="C:\Users\Sawaa\Documents\RoadStar DispatchOS\ RoadStar DispatchOS\deliverables\pitch-deck\assets\02_core_feature.png">    </p:cNvPr>
          <p:cNvPicPr>
            <a:picLocks noChangeAspect="1"/>
          </p:cNvPicPr>
          <p:nvPr/>
        </p:nvPicPr>
        <p:blipFill>
          <a:blip r:embed="rId1"/>
          <a:stretch>
            <a:fillRect/>
          </a:stretch>
        </p:blipFill>
        <p:spPr>
          <a:xfrm>
            <a:off x="566928" y="1664208"/>
            <a:ext cx="11064240" cy="4590288"/>
          </a:xfrm>
          <a:prstGeom prst="rect">
            <a:avLst/>
          </a:prstGeom>
        </p:spPr>
      </p:pic>
      <p:sp>
        <p:nvSpPr>
          <p:cNvPr id="8" name="Shape 5"/>
          <p:cNvSpPr/>
          <p:nvPr/>
        </p:nvSpPr>
        <p:spPr>
          <a:xfrm>
            <a:off x="758952" y="6382512"/>
            <a:ext cx="1280160" cy="292608"/>
          </a:xfrm>
          <a:prstGeom prst="roundRect">
            <a:avLst>
              <a:gd name="adj" fmla="val 25000"/>
            </a:avLst>
          </a:prstGeom>
          <a:solidFill>
            <a:srgbClr val="0F8A63"/>
          </a:solidFill>
          <a:ln w="12700">
            <a:solidFill>
              <a:srgbClr val="0F8A63"/>
            </a:solidFill>
            <a:prstDash val="solid"/>
          </a:ln>
        </p:spPr>
      </p:sp>
      <p:sp>
        <p:nvSpPr>
          <p:cNvPr id="9" name="Text 6"/>
          <p:cNvSpPr/>
          <p:nvPr/>
        </p:nvSpPr>
        <p:spPr>
          <a:xfrm>
            <a:off x="832104" y="6441948"/>
            <a:ext cx="1133856" cy="146304"/>
          </a:xfrm>
          <a:prstGeom prst="rect">
            <a:avLst/>
          </a:prstGeom>
          <a:noFill/>
          <a:ln/>
        </p:spPr>
        <p:txBody>
          <a:bodyPr wrap="square" lIns="0" tIns="0" rIns="0" bIns="0" rtlCol="0" anchor="ctr">
            <a:normAutofit/>
          </a:bodyPr>
          <a:lstStyle/>
          <a:p>
            <a:pPr algn="ctr" indent="0" marL="0">
              <a:buNone/>
            </a:pPr>
            <a:r>
              <a:rPr lang="en-US" sz="750" b="1" dirty="0">
                <a:solidFill>
                  <a:srgbClr val="FFFFFF"/>
                </a:solidFill>
              </a:rPr>
              <a:t>MIXED CARGO</a:t>
            </a:r>
            <a:endParaRPr lang="en-US" sz="750" dirty="0"/>
          </a:p>
        </p:txBody>
      </p:sp>
      <p:sp>
        <p:nvSpPr>
          <p:cNvPr id="10" name="Shape 7"/>
          <p:cNvSpPr/>
          <p:nvPr/>
        </p:nvSpPr>
        <p:spPr>
          <a:xfrm>
            <a:off x="3767328" y="6382512"/>
            <a:ext cx="1280160" cy="292608"/>
          </a:xfrm>
          <a:prstGeom prst="roundRect">
            <a:avLst>
              <a:gd name="adj" fmla="val 25000"/>
            </a:avLst>
          </a:prstGeom>
          <a:solidFill>
            <a:srgbClr val="0F8A63"/>
          </a:solidFill>
          <a:ln w="12700">
            <a:solidFill>
              <a:srgbClr val="0F8A63"/>
            </a:solidFill>
            <a:prstDash val="solid"/>
          </a:ln>
        </p:spPr>
      </p:sp>
      <p:sp>
        <p:nvSpPr>
          <p:cNvPr id="11" name="Text 8"/>
          <p:cNvSpPr/>
          <p:nvPr/>
        </p:nvSpPr>
        <p:spPr>
          <a:xfrm>
            <a:off x="3840480" y="6441948"/>
            <a:ext cx="1133856" cy="146304"/>
          </a:xfrm>
          <a:prstGeom prst="rect">
            <a:avLst/>
          </a:prstGeom>
          <a:noFill/>
          <a:ln/>
        </p:spPr>
        <p:txBody>
          <a:bodyPr wrap="square" lIns="0" tIns="0" rIns="0" bIns="0" rtlCol="0" anchor="ctr">
            <a:normAutofit/>
          </a:bodyPr>
          <a:lstStyle/>
          <a:p>
            <a:pPr algn="ctr" indent="0" marL="0">
              <a:buNone/>
            </a:pPr>
            <a:r>
              <a:rPr lang="en-US" sz="750" b="1" dirty="0">
                <a:solidFill>
                  <a:srgbClr val="FFFFFF"/>
                </a:solidFill>
              </a:rPr>
              <a:t>TRUE LAYERS</a:t>
            </a:r>
            <a:endParaRPr lang="en-US" sz="750" dirty="0"/>
          </a:p>
        </p:txBody>
      </p:sp>
      <p:sp>
        <p:nvSpPr>
          <p:cNvPr id="12" name="Shape 9"/>
          <p:cNvSpPr/>
          <p:nvPr/>
        </p:nvSpPr>
        <p:spPr>
          <a:xfrm>
            <a:off x="6601968" y="6382512"/>
            <a:ext cx="1417320" cy="292608"/>
          </a:xfrm>
          <a:prstGeom prst="roundRect">
            <a:avLst>
              <a:gd name="adj" fmla="val 25000"/>
            </a:avLst>
          </a:prstGeom>
          <a:solidFill>
            <a:srgbClr val="D98B16"/>
          </a:solidFill>
          <a:ln w="12700">
            <a:solidFill>
              <a:srgbClr val="D98B16"/>
            </a:solidFill>
            <a:prstDash val="solid"/>
          </a:ln>
        </p:spPr>
      </p:sp>
      <p:sp>
        <p:nvSpPr>
          <p:cNvPr id="13" name="Text 10"/>
          <p:cNvSpPr/>
          <p:nvPr/>
        </p:nvSpPr>
        <p:spPr>
          <a:xfrm>
            <a:off x="6675120" y="6441948"/>
            <a:ext cx="1271016" cy="146304"/>
          </a:xfrm>
          <a:prstGeom prst="rect">
            <a:avLst/>
          </a:prstGeom>
          <a:noFill/>
          <a:ln/>
        </p:spPr>
        <p:txBody>
          <a:bodyPr wrap="square" lIns="0" tIns="0" rIns="0" bIns="0" rtlCol="0" anchor="ctr">
            <a:normAutofit/>
          </a:bodyPr>
          <a:lstStyle/>
          <a:p>
            <a:pPr algn="ctr" indent="0" marL="0">
              <a:buNone/>
            </a:pPr>
            <a:r>
              <a:rPr lang="en-US" sz="750" b="1" dirty="0">
                <a:solidFill>
                  <a:srgbClr val="FFFFFF"/>
                </a:solidFill>
              </a:rPr>
              <a:t>AXLE / FLOOR GUARDS</a:t>
            </a:r>
            <a:endParaRPr lang="en-US" sz="750" dirty="0"/>
          </a:p>
        </p:txBody>
      </p:sp>
      <p:sp>
        <p:nvSpPr>
          <p:cNvPr id="14" name="Shape 11"/>
          <p:cNvSpPr/>
          <p:nvPr/>
        </p:nvSpPr>
        <p:spPr>
          <a:xfrm>
            <a:off x="9372600" y="6382512"/>
            <a:ext cx="1280160" cy="292608"/>
          </a:xfrm>
          <a:prstGeom prst="roundRect">
            <a:avLst>
              <a:gd name="adj" fmla="val 25000"/>
            </a:avLst>
          </a:prstGeom>
          <a:solidFill>
            <a:srgbClr val="0F8A63"/>
          </a:solidFill>
          <a:ln w="12700">
            <a:solidFill>
              <a:srgbClr val="0F8A63"/>
            </a:solidFill>
            <a:prstDash val="solid"/>
          </a:ln>
        </p:spPr>
      </p:sp>
      <p:sp>
        <p:nvSpPr>
          <p:cNvPr id="15" name="Text 12"/>
          <p:cNvSpPr/>
          <p:nvPr/>
        </p:nvSpPr>
        <p:spPr>
          <a:xfrm>
            <a:off x="9445752" y="6441948"/>
            <a:ext cx="1133856" cy="146304"/>
          </a:xfrm>
          <a:prstGeom prst="rect">
            <a:avLst/>
          </a:prstGeom>
          <a:noFill/>
          <a:ln/>
        </p:spPr>
        <p:txBody>
          <a:bodyPr wrap="square" lIns="0" tIns="0" rIns="0" bIns="0" rtlCol="0" anchor="ctr">
            <a:normAutofit/>
          </a:bodyPr>
          <a:lstStyle/>
          <a:p>
            <a:pPr algn="ctr" indent="0" marL="0">
              <a:buNone/>
            </a:pPr>
            <a:r>
              <a:rPr lang="en-US" sz="750" b="1" dirty="0">
                <a:solidFill>
                  <a:srgbClr val="FFFFFF"/>
                </a:solidFill>
              </a:rPr>
              <a:t>UNLOAD SEQUENCE</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8"/>
        </a:solidFill>
      </p:bgPr>
    </p:bg>
    <p:spTree>
      <p:nvGrpSpPr>
        <p:cNvPr id="1" name=""/>
        <p:cNvGrpSpPr/>
        <p:nvPr/>
      </p:nvGrpSpPr>
      <p:grpSpPr>
        <a:xfrm>
          <a:off x="0" y="0"/>
          <a:ext cx="0" cy="0"/>
          <a:chOff x="0" y="0"/>
          <a:chExt cx="0" cy="0"/>
        </a:xfrm>
      </p:grpSpPr>
      <p:sp>
        <p:nvSpPr>
          <p:cNvPr id="2" name="Text 0"/>
          <p:cNvSpPr/>
          <p:nvPr/>
        </p:nvSpPr>
        <p:spPr>
          <a:xfrm>
            <a:off x="411480" y="182880"/>
            <a:ext cx="2926080" cy="201168"/>
          </a:xfrm>
          <a:prstGeom prst="rect">
            <a:avLst/>
          </a:prstGeom>
          <a:noFill/>
          <a:ln/>
        </p:spPr>
        <p:txBody>
          <a:bodyPr wrap="square" lIns="0" tIns="0" rIns="0" bIns="0" rtlCol="0" anchor="ctr"/>
          <a:lstStyle/>
          <a:p>
            <a:pPr indent="0" marL="0">
              <a:buNone/>
            </a:pPr>
            <a:r>
              <a:rPr lang="en-US" sz="800" b="1" spc="200" kern="0" dirty="0">
                <a:solidFill>
                  <a:srgbClr val="0F8A63"/>
                </a:solidFill>
                <a:latin typeface="Aptos" pitchFamily="34" charset="0"/>
                <a:ea typeface="Aptos" pitchFamily="34" charset="-122"/>
                <a:cs typeface="Aptos" pitchFamily="34" charset="-120"/>
              </a:rPr>
              <a:t>ROADSTAR  /  DISPATCHOS</a:t>
            </a:r>
            <a:endParaRPr lang="en-US" sz="800" dirty="0"/>
          </a:p>
        </p:txBody>
      </p:sp>
      <p:sp>
        <p:nvSpPr>
          <p:cNvPr id="3" name="Text 1"/>
          <p:cNvSpPr/>
          <p:nvPr/>
        </p:nvSpPr>
        <p:spPr>
          <a:xfrm>
            <a:off x="11292840" y="182880"/>
            <a:ext cx="457200" cy="201168"/>
          </a:xfrm>
          <a:prstGeom prst="rect">
            <a:avLst/>
          </a:prstGeom>
          <a:noFill/>
          <a:ln/>
        </p:spPr>
        <p:txBody>
          <a:bodyPr wrap="square" lIns="0" tIns="0" rIns="0" bIns="0" rtlCol="0" anchor="ctr"/>
          <a:lstStyle/>
          <a:p>
            <a:pPr algn="r" indent="0" marL="0">
              <a:buNone/>
            </a:pPr>
            <a:r>
              <a:rPr lang="en-US" sz="800" b="1" dirty="0">
                <a:solidFill>
                  <a:srgbClr val="61736B"/>
                </a:solidFill>
              </a:rPr>
              <a:t>05</a:t>
            </a:r>
            <a:endParaRPr lang="en-US" sz="800" dirty="0"/>
          </a:p>
        </p:txBody>
      </p:sp>
      <p:sp>
        <p:nvSpPr>
          <p:cNvPr id="4" name="Text 2"/>
          <p:cNvSpPr/>
          <p:nvPr/>
        </p:nvSpPr>
        <p:spPr>
          <a:xfrm>
            <a:off x="502920" y="566928"/>
            <a:ext cx="3200400" cy="182880"/>
          </a:xfrm>
          <a:prstGeom prst="rect">
            <a:avLst/>
          </a:prstGeom>
          <a:noFill/>
          <a:ln/>
        </p:spPr>
        <p:txBody>
          <a:bodyPr wrap="square" lIns="0" tIns="0" rIns="0" bIns="0" rtlCol="0" anchor="ctr"/>
          <a:lstStyle/>
          <a:p>
            <a:pPr indent="0" marL="0">
              <a:buNone/>
            </a:pPr>
            <a:r>
              <a:rPr lang="en-US" sz="800" b="1" spc="160" kern="0" dirty="0">
                <a:solidFill>
                  <a:srgbClr val="0F8A63"/>
                </a:solidFill>
              </a:rPr>
              <a:t>MEASURED OPERATIONS</a:t>
            </a:r>
            <a:endParaRPr lang="en-US" sz="800" dirty="0"/>
          </a:p>
        </p:txBody>
      </p:sp>
      <p:sp>
        <p:nvSpPr>
          <p:cNvPr id="5" name="Text 3"/>
          <p:cNvSpPr/>
          <p:nvPr/>
        </p:nvSpPr>
        <p:spPr>
          <a:xfrm>
            <a:off x="502920" y="822960"/>
            <a:ext cx="11064240" cy="713232"/>
          </a:xfrm>
          <a:prstGeom prst="rect">
            <a:avLst/>
          </a:prstGeom>
          <a:noFill/>
          <a:ln/>
        </p:spPr>
        <p:txBody>
          <a:bodyPr wrap="square" lIns="0" tIns="0" rIns="0" bIns="0" rtlCol="0" anchor="ctr">
            <a:normAutofit/>
          </a:bodyPr>
          <a:lstStyle/>
          <a:p>
            <a:pPr indent="0" marL="0">
              <a:buNone/>
            </a:pPr>
            <a:r>
              <a:rPr lang="en-US" sz="2900" b="1" dirty="0">
                <a:solidFill>
                  <a:srgbClr val="10231D"/>
                </a:solidFill>
                <a:latin typeface="Aptos Display" pitchFamily="34" charset="0"/>
                <a:ea typeface="Aptos Display" pitchFamily="34" charset="-122"/>
                <a:cs typeface="Aptos Display" pitchFamily="34" charset="-120"/>
              </a:rPr>
              <a:t>Historical replay turns empty kilometres into a ranked opportunity list.</a:t>
            </a:r>
            <a:endParaRPr lang="en-US" sz="2900" dirty="0"/>
          </a:p>
        </p:txBody>
      </p:sp>
      <p:sp>
        <p:nvSpPr>
          <p:cNvPr id="6" name="Text 4"/>
          <p:cNvSpPr/>
          <p:nvPr/>
        </p:nvSpPr>
        <p:spPr>
          <a:xfrm>
            <a:off x="566928" y="1828800"/>
            <a:ext cx="2560320" cy="384048"/>
          </a:xfrm>
          <a:prstGeom prst="rect">
            <a:avLst/>
          </a:prstGeom>
          <a:noFill/>
          <a:ln/>
        </p:spPr>
        <p:txBody>
          <a:bodyPr wrap="square" lIns="0" tIns="0" rIns="0" bIns="0" rtlCol="0" anchor="ctr">
            <a:normAutofit/>
          </a:bodyPr>
          <a:lstStyle/>
          <a:p>
            <a:pPr indent="0" marL="0">
              <a:buNone/>
            </a:pPr>
            <a:r>
              <a:rPr lang="en-US" sz="2500" b="1" dirty="0">
                <a:solidFill>
                  <a:srgbClr val="0F8A63"/>
                </a:solidFill>
              </a:rPr>
              <a:t>10,479</a:t>
            </a:r>
            <a:endParaRPr lang="en-US" sz="2500" dirty="0"/>
          </a:p>
        </p:txBody>
      </p:sp>
      <p:sp>
        <p:nvSpPr>
          <p:cNvPr id="7" name="Text 5"/>
          <p:cNvSpPr/>
          <p:nvPr/>
        </p:nvSpPr>
        <p:spPr>
          <a:xfrm>
            <a:off x="585216" y="2267712"/>
            <a:ext cx="2377440" cy="201168"/>
          </a:xfrm>
          <a:prstGeom prst="rect">
            <a:avLst/>
          </a:prstGeom>
          <a:noFill/>
          <a:ln/>
        </p:spPr>
        <p:txBody>
          <a:bodyPr wrap="square" lIns="0" tIns="0" rIns="0" bIns="0" rtlCol="0" anchor="ctr"/>
          <a:lstStyle/>
          <a:p>
            <a:pPr indent="0" marL="0">
              <a:buNone/>
            </a:pPr>
            <a:r>
              <a:rPr lang="en-US" sz="1000" dirty="0">
                <a:solidFill>
                  <a:srgbClr val="61736B"/>
                </a:solidFill>
              </a:rPr>
              <a:t>completed legs</a:t>
            </a:r>
            <a:endParaRPr lang="en-US" sz="1000" dirty="0"/>
          </a:p>
        </p:txBody>
      </p:sp>
      <p:sp>
        <p:nvSpPr>
          <p:cNvPr id="8" name="Text 6"/>
          <p:cNvSpPr/>
          <p:nvPr/>
        </p:nvSpPr>
        <p:spPr>
          <a:xfrm>
            <a:off x="566928" y="2880360"/>
            <a:ext cx="2560320" cy="384048"/>
          </a:xfrm>
          <a:prstGeom prst="rect">
            <a:avLst/>
          </a:prstGeom>
          <a:noFill/>
          <a:ln/>
        </p:spPr>
        <p:txBody>
          <a:bodyPr wrap="square" lIns="0" tIns="0" rIns="0" bIns="0" rtlCol="0" anchor="ctr">
            <a:normAutofit/>
          </a:bodyPr>
          <a:lstStyle/>
          <a:p>
            <a:pPr indent="0" marL="0">
              <a:buNone/>
            </a:pPr>
            <a:r>
              <a:rPr lang="en-US" sz="2500" b="1" dirty="0">
                <a:solidFill>
                  <a:srgbClr val="D98B16"/>
                </a:solidFill>
              </a:rPr>
              <a:t>358,296 km</a:t>
            </a:r>
            <a:endParaRPr lang="en-US" sz="2500" dirty="0"/>
          </a:p>
        </p:txBody>
      </p:sp>
      <p:sp>
        <p:nvSpPr>
          <p:cNvPr id="9" name="Text 7"/>
          <p:cNvSpPr/>
          <p:nvPr/>
        </p:nvSpPr>
        <p:spPr>
          <a:xfrm>
            <a:off x="585216" y="3319272"/>
            <a:ext cx="2377440" cy="201168"/>
          </a:xfrm>
          <a:prstGeom prst="rect">
            <a:avLst/>
          </a:prstGeom>
          <a:noFill/>
          <a:ln/>
        </p:spPr>
        <p:txBody>
          <a:bodyPr wrap="square" lIns="0" tIns="0" rIns="0" bIns="0" rtlCol="0" anchor="ctr"/>
          <a:lstStyle/>
          <a:p>
            <a:pPr indent="0" marL="0">
              <a:buNone/>
            </a:pPr>
            <a:r>
              <a:rPr lang="en-US" sz="1000" dirty="0">
                <a:solidFill>
                  <a:srgbClr val="61736B"/>
                </a:solidFill>
              </a:rPr>
              <a:t>historical empty distance</a:t>
            </a:r>
            <a:endParaRPr lang="en-US" sz="1000" dirty="0"/>
          </a:p>
        </p:txBody>
      </p:sp>
      <p:sp>
        <p:nvSpPr>
          <p:cNvPr id="10" name="Text 8"/>
          <p:cNvSpPr/>
          <p:nvPr/>
        </p:nvSpPr>
        <p:spPr>
          <a:xfrm>
            <a:off x="566928" y="3931920"/>
            <a:ext cx="2560320" cy="384048"/>
          </a:xfrm>
          <a:prstGeom prst="rect">
            <a:avLst/>
          </a:prstGeom>
          <a:noFill/>
          <a:ln/>
        </p:spPr>
        <p:txBody>
          <a:bodyPr wrap="square" lIns="0" tIns="0" rIns="0" bIns="0" rtlCol="0" anchor="ctr">
            <a:normAutofit/>
          </a:bodyPr>
          <a:lstStyle/>
          <a:p>
            <a:pPr indent="0" marL="0">
              <a:buNone/>
            </a:pPr>
            <a:r>
              <a:rPr lang="en-US" sz="2500" b="1" dirty="0">
                <a:solidFill>
                  <a:srgbClr val="0F8A63"/>
                </a:solidFill>
              </a:rPr>
              <a:t>13.9%</a:t>
            </a:r>
            <a:endParaRPr lang="en-US" sz="2500" dirty="0"/>
          </a:p>
        </p:txBody>
      </p:sp>
      <p:sp>
        <p:nvSpPr>
          <p:cNvPr id="11" name="Text 9"/>
          <p:cNvSpPr/>
          <p:nvPr/>
        </p:nvSpPr>
        <p:spPr>
          <a:xfrm>
            <a:off x="585216" y="4370832"/>
            <a:ext cx="2377440" cy="201168"/>
          </a:xfrm>
          <a:prstGeom prst="rect">
            <a:avLst/>
          </a:prstGeom>
          <a:noFill/>
          <a:ln/>
        </p:spPr>
        <p:txBody>
          <a:bodyPr wrap="square" lIns="0" tIns="0" rIns="0" bIns="0" rtlCol="0" anchor="ctr"/>
          <a:lstStyle/>
          <a:p>
            <a:pPr indent="0" marL="0">
              <a:buNone/>
            </a:pPr>
            <a:r>
              <a:rPr lang="en-US" sz="1000" dirty="0">
                <a:solidFill>
                  <a:srgbClr val="61736B"/>
                </a:solidFill>
              </a:rPr>
              <a:t>of recorded distance</a:t>
            </a:r>
            <a:endParaRPr lang="en-US" sz="1000" dirty="0"/>
          </a:p>
        </p:txBody>
      </p:sp>
      <p:sp>
        <p:nvSpPr>
          <p:cNvPr id="12" name="Shape 10"/>
          <p:cNvSpPr/>
          <p:nvPr/>
        </p:nvSpPr>
        <p:spPr>
          <a:xfrm>
            <a:off x="566928" y="5074920"/>
            <a:ext cx="2834640" cy="768096"/>
          </a:xfrm>
          <a:prstGeom prst="roundRect">
            <a:avLst>
              <a:gd name="adj" fmla="val 7143"/>
            </a:avLst>
          </a:prstGeom>
          <a:solidFill>
            <a:srgbClr val="E8F5F0"/>
          </a:solidFill>
          <a:ln w="12700">
            <a:solidFill>
              <a:srgbClr val="B9DDD0"/>
            </a:solidFill>
            <a:prstDash val="solid"/>
          </a:ln>
        </p:spPr>
      </p:sp>
      <p:sp>
        <p:nvSpPr>
          <p:cNvPr id="13" name="Text 11"/>
          <p:cNvSpPr/>
          <p:nvPr/>
        </p:nvSpPr>
        <p:spPr>
          <a:xfrm>
            <a:off x="786384" y="5257800"/>
            <a:ext cx="2286000" cy="182880"/>
          </a:xfrm>
          <a:prstGeom prst="rect">
            <a:avLst/>
          </a:prstGeom>
          <a:noFill/>
          <a:ln/>
        </p:spPr>
        <p:txBody>
          <a:bodyPr wrap="square" lIns="0" tIns="0" rIns="0" bIns="0" rtlCol="0" anchor="ctr"/>
          <a:lstStyle/>
          <a:p>
            <a:pPr indent="0" marL="0">
              <a:buNone/>
            </a:pPr>
            <a:r>
              <a:rPr lang="en-US" sz="1100" b="1" dirty="0">
                <a:solidFill>
                  <a:srgbClr val="0F8A63"/>
                </a:solidFill>
              </a:rPr>
              <a:t>Honest by design</a:t>
            </a:r>
            <a:endParaRPr lang="en-US" sz="1100" dirty="0"/>
          </a:p>
        </p:txBody>
      </p:sp>
      <p:sp>
        <p:nvSpPr>
          <p:cNvPr id="14" name="Text 12"/>
          <p:cNvSpPr/>
          <p:nvPr/>
        </p:nvSpPr>
        <p:spPr>
          <a:xfrm>
            <a:off x="786384" y="5513832"/>
            <a:ext cx="2286000" cy="182880"/>
          </a:xfrm>
          <a:prstGeom prst="rect">
            <a:avLst/>
          </a:prstGeom>
          <a:noFill/>
          <a:ln/>
        </p:spPr>
        <p:txBody>
          <a:bodyPr wrap="square" lIns="0" tIns="0" rIns="0" bIns="0" rtlCol="0" anchor="ctr">
            <a:normAutofit/>
          </a:bodyPr>
          <a:lstStyle/>
          <a:p>
            <a:pPr indent="0" marL="0">
              <a:buNone/>
            </a:pPr>
            <a:r>
              <a:rPr lang="en-US" sz="850" dirty="0">
                <a:solidFill>
                  <a:srgbClr val="61736B"/>
                </a:solidFill>
              </a:rPr>
              <a:t>Replay labels opportunities—not guaranteed savings.</a:t>
            </a:r>
            <a:endParaRPr lang="en-US" sz="850" dirty="0"/>
          </a:p>
        </p:txBody>
      </p:sp>
      <p:sp>
        <p:nvSpPr>
          <p:cNvPr id="15" name="Shape 13"/>
          <p:cNvSpPr/>
          <p:nvPr/>
        </p:nvSpPr>
        <p:spPr>
          <a:xfrm>
            <a:off x="3639312" y="1719072"/>
            <a:ext cx="8028432" cy="4544568"/>
          </a:xfrm>
          <a:prstGeom prst="roundRect">
            <a:avLst>
              <a:gd name="adj" fmla="val 1610"/>
            </a:avLst>
          </a:prstGeom>
          <a:solidFill>
            <a:srgbClr val="FFFFFF"/>
          </a:solidFill>
          <a:ln w="15240">
            <a:solidFill>
              <a:srgbClr val="D7E4DE"/>
            </a:solidFill>
            <a:prstDash val="solid"/>
          </a:ln>
          <a:effectLst>
            <a:outerShdw sx="100000" sy="100000" kx="0" ky="0" algn="bl" rotWithShape="0" blurRad="25400" dist="50800" dir="2700000">
              <a:srgbClr val="17362C">
                <a:alpha val="16000"/>
              </a:srgbClr>
            </a:outerShdw>
          </a:effectLst>
        </p:spPr>
      </p:sp>
      <p:pic>
        <p:nvPicPr>
          <p:cNvPr id="16" name="Image 0" descr="C:\Users\Sawaa\Documents\RoadStar DispatchOS\ RoadStar DispatchOS\deliverables\pitch-deck\assets\03_analytics.png">    </p:cNvPr>
          <p:cNvPicPr>
            <a:picLocks noChangeAspect="1"/>
          </p:cNvPicPr>
          <p:nvPr/>
        </p:nvPicPr>
        <p:blipFill>
          <a:blip r:embed="rId1"/>
          <a:stretch>
            <a:fillRect/>
          </a:stretch>
        </p:blipFill>
        <p:spPr>
          <a:xfrm>
            <a:off x="3675888" y="1755648"/>
            <a:ext cx="7955280" cy="4471416"/>
          </a:xfrm>
          <a:prstGeom prst="rect">
            <a:avLst/>
          </a:prstGeom>
        </p:spPr>
      </p:pic>
      <p:sp>
        <p:nvSpPr>
          <p:cNvPr id="17" name="Text 14"/>
          <p:cNvSpPr/>
          <p:nvPr/>
        </p:nvSpPr>
        <p:spPr>
          <a:xfrm>
            <a:off x="3703320" y="6355080"/>
            <a:ext cx="7132320" cy="164592"/>
          </a:xfrm>
          <a:prstGeom prst="rect">
            <a:avLst/>
          </a:prstGeom>
          <a:noFill/>
          <a:ln/>
        </p:spPr>
        <p:txBody>
          <a:bodyPr wrap="square" lIns="0" tIns="0" rIns="0" bIns="0" rtlCol="0" anchor="ctr"/>
          <a:lstStyle/>
          <a:p>
            <a:pPr indent="0" marL="0">
              <a:buNone/>
            </a:pPr>
            <a:r>
              <a:rPr lang="en-US" sz="700" dirty="0">
                <a:solidFill>
                  <a:srgbClr val="61736B"/>
                </a:solidFill>
              </a:rPr>
              <a:t>Baseline shown: supplied RoadStar workbook, 2026-06-26 to 2026-08-28.</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8"/>
        </a:solidFill>
      </p:bgPr>
    </p:bg>
    <p:spTree>
      <p:nvGrpSpPr>
        <p:cNvPr id="1" name=""/>
        <p:cNvGrpSpPr/>
        <p:nvPr/>
      </p:nvGrpSpPr>
      <p:grpSpPr>
        <a:xfrm>
          <a:off x="0" y="0"/>
          <a:ext cx="0" cy="0"/>
          <a:chOff x="0" y="0"/>
          <a:chExt cx="0" cy="0"/>
        </a:xfrm>
      </p:grpSpPr>
      <p:sp>
        <p:nvSpPr>
          <p:cNvPr id="2" name="Text 0"/>
          <p:cNvSpPr/>
          <p:nvPr/>
        </p:nvSpPr>
        <p:spPr>
          <a:xfrm>
            <a:off x="411480" y="182880"/>
            <a:ext cx="2926080" cy="201168"/>
          </a:xfrm>
          <a:prstGeom prst="rect">
            <a:avLst/>
          </a:prstGeom>
          <a:noFill/>
          <a:ln/>
        </p:spPr>
        <p:txBody>
          <a:bodyPr wrap="square" lIns="0" tIns="0" rIns="0" bIns="0" rtlCol="0" anchor="ctr"/>
          <a:lstStyle/>
          <a:p>
            <a:pPr indent="0" marL="0">
              <a:buNone/>
            </a:pPr>
            <a:r>
              <a:rPr lang="en-US" sz="800" b="1" spc="200" kern="0" dirty="0">
                <a:solidFill>
                  <a:srgbClr val="0F8A63"/>
                </a:solidFill>
                <a:latin typeface="Aptos" pitchFamily="34" charset="0"/>
                <a:ea typeface="Aptos" pitchFamily="34" charset="-122"/>
                <a:cs typeface="Aptos" pitchFamily="34" charset="-120"/>
              </a:rPr>
              <a:t>ROADSTAR  /  DISPATCHOS</a:t>
            </a:r>
            <a:endParaRPr lang="en-US" sz="800" dirty="0"/>
          </a:p>
        </p:txBody>
      </p:sp>
      <p:sp>
        <p:nvSpPr>
          <p:cNvPr id="3" name="Text 1"/>
          <p:cNvSpPr/>
          <p:nvPr/>
        </p:nvSpPr>
        <p:spPr>
          <a:xfrm>
            <a:off x="11292840" y="182880"/>
            <a:ext cx="457200" cy="201168"/>
          </a:xfrm>
          <a:prstGeom prst="rect">
            <a:avLst/>
          </a:prstGeom>
          <a:noFill/>
          <a:ln/>
        </p:spPr>
        <p:txBody>
          <a:bodyPr wrap="square" lIns="0" tIns="0" rIns="0" bIns="0" rtlCol="0" anchor="ctr"/>
          <a:lstStyle/>
          <a:p>
            <a:pPr algn="r" indent="0" marL="0">
              <a:buNone/>
            </a:pPr>
            <a:r>
              <a:rPr lang="en-US" sz="800" b="1" dirty="0">
                <a:solidFill>
                  <a:srgbClr val="61736B"/>
                </a:solidFill>
              </a:rPr>
              <a:t>06</a:t>
            </a:r>
            <a:endParaRPr lang="en-US" sz="800" dirty="0"/>
          </a:p>
        </p:txBody>
      </p:sp>
      <p:sp>
        <p:nvSpPr>
          <p:cNvPr id="4" name="Text 2"/>
          <p:cNvSpPr/>
          <p:nvPr/>
        </p:nvSpPr>
        <p:spPr>
          <a:xfrm>
            <a:off x="502920" y="566928"/>
            <a:ext cx="3200400" cy="182880"/>
          </a:xfrm>
          <a:prstGeom prst="rect">
            <a:avLst/>
          </a:prstGeom>
          <a:noFill/>
          <a:ln/>
        </p:spPr>
        <p:txBody>
          <a:bodyPr wrap="square" lIns="0" tIns="0" rIns="0" bIns="0" rtlCol="0" anchor="ctr"/>
          <a:lstStyle/>
          <a:p>
            <a:pPr indent="0" marL="0">
              <a:buNone/>
            </a:pPr>
            <a:r>
              <a:rPr lang="en-US" sz="800" b="1" spc="160" kern="0" dirty="0">
                <a:solidFill>
                  <a:srgbClr val="0F8A63"/>
                </a:solidFill>
              </a:rPr>
              <a:t>WHY THIS CORRIDOR · WHY NOW</a:t>
            </a:r>
            <a:endParaRPr lang="en-US" sz="800" dirty="0"/>
          </a:p>
        </p:txBody>
      </p:sp>
      <p:sp>
        <p:nvSpPr>
          <p:cNvPr id="5" name="Text 3"/>
          <p:cNvSpPr/>
          <p:nvPr/>
        </p:nvSpPr>
        <p:spPr>
          <a:xfrm>
            <a:off x="502920" y="822960"/>
            <a:ext cx="11064240" cy="713232"/>
          </a:xfrm>
          <a:prstGeom prst="rect">
            <a:avLst/>
          </a:prstGeom>
          <a:noFill/>
          <a:ln/>
        </p:spPr>
        <p:txBody>
          <a:bodyPr wrap="square" lIns="0" tIns="0" rIns="0" bIns="0" rtlCol="0" anchor="ctr">
            <a:normAutofit/>
          </a:bodyPr>
          <a:lstStyle/>
          <a:p>
            <a:pPr indent="0" marL="0">
              <a:buNone/>
            </a:pPr>
            <a:r>
              <a:rPr lang="en-US" sz="2900" b="1" dirty="0">
                <a:solidFill>
                  <a:srgbClr val="10231D"/>
                </a:solidFill>
                <a:latin typeface="Aptos Display" pitchFamily="34" charset="0"/>
                <a:ea typeface="Aptos Display" pitchFamily="34" charset="-122"/>
                <a:cs typeface="Aptos Display" pitchFamily="34" charset="-120"/>
              </a:rPr>
              <a:t>Southern Ontario’s dense freight grid rewards one shared operating picture.</a:t>
            </a:r>
            <a:endParaRPr lang="en-US" sz="2900" dirty="0"/>
          </a:p>
        </p:txBody>
      </p:sp>
      <p:sp>
        <p:nvSpPr>
          <p:cNvPr id="6" name="Shape 4"/>
          <p:cNvSpPr/>
          <p:nvPr/>
        </p:nvSpPr>
        <p:spPr>
          <a:xfrm>
            <a:off x="530352" y="1655064"/>
            <a:ext cx="7114032" cy="4032504"/>
          </a:xfrm>
          <a:prstGeom prst="roundRect">
            <a:avLst>
              <a:gd name="adj" fmla="val 1814"/>
            </a:avLst>
          </a:prstGeom>
          <a:solidFill>
            <a:srgbClr val="FFFFFF"/>
          </a:solidFill>
          <a:ln w="15240">
            <a:solidFill>
              <a:srgbClr val="D7E4DE"/>
            </a:solidFill>
            <a:prstDash val="solid"/>
          </a:ln>
          <a:effectLst>
            <a:outerShdw sx="100000" sy="100000" kx="0" ky="0" algn="bl" rotWithShape="0" blurRad="25400" dist="50800" dir="2700000">
              <a:srgbClr val="17362C">
                <a:alpha val="16000"/>
              </a:srgbClr>
            </a:outerShdw>
          </a:effectLst>
        </p:spPr>
      </p:sp>
      <p:pic>
        <p:nvPicPr>
          <p:cNvPr id="7" name="Image 0" descr="C:\Users\Sawaa\Documents\RoadStar DispatchOS\ RoadStar DispatchOS\deliverables\pitch-deck\assets\05_live_map.png">    </p:cNvPr>
          <p:cNvPicPr>
            <a:picLocks noChangeAspect="1"/>
          </p:cNvPicPr>
          <p:nvPr/>
        </p:nvPicPr>
        <p:blipFill>
          <a:blip r:embed="rId1"/>
          <a:stretch>
            <a:fillRect/>
          </a:stretch>
        </p:blipFill>
        <p:spPr>
          <a:xfrm>
            <a:off x="566928" y="1691640"/>
            <a:ext cx="7040880" cy="3959352"/>
          </a:xfrm>
          <a:prstGeom prst="rect">
            <a:avLst/>
          </a:prstGeom>
        </p:spPr>
      </p:pic>
      <p:sp>
        <p:nvSpPr>
          <p:cNvPr id="8" name="Text 5"/>
          <p:cNvSpPr/>
          <p:nvPr/>
        </p:nvSpPr>
        <p:spPr>
          <a:xfrm>
            <a:off x="7973568" y="1783080"/>
            <a:ext cx="3474720" cy="256032"/>
          </a:xfrm>
          <a:prstGeom prst="rect">
            <a:avLst/>
          </a:prstGeom>
          <a:noFill/>
          <a:ln/>
        </p:spPr>
        <p:txBody>
          <a:bodyPr wrap="square" lIns="0" tIns="0" rIns="0" bIns="0" rtlCol="0" anchor="ctr"/>
          <a:lstStyle/>
          <a:p>
            <a:pPr indent="0" marL="0">
              <a:buNone/>
            </a:pPr>
            <a:r>
              <a:rPr lang="en-US" sz="1400" b="1" dirty="0">
                <a:solidFill>
                  <a:srgbClr val="10231D"/>
                </a:solidFill>
              </a:rPr>
              <a:t>Live road geometry</a:t>
            </a:r>
            <a:endParaRPr lang="en-US" sz="1400" dirty="0"/>
          </a:p>
        </p:txBody>
      </p:sp>
      <p:sp>
        <p:nvSpPr>
          <p:cNvPr id="9" name="Text 6"/>
          <p:cNvSpPr/>
          <p:nvPr/>
        </p:nvSpPr>
        <p:spPr>
          <a:xfrm>
            <a:off x="7973568" y="2112264"/>
            <a:ext cx="3520440" cy="384048"/>
          </a:xfrm>
          <a:prstGeom prst="rect">
            <a:avLst/>
          </a:prstGeom>
          <a:noFill/>
          <a:ln/>
        </p:spPr>
        <p:txBody>
          <a:bodyPr wrap="square" lIns="0" tIns="0" rIns="0" bIns="0" rtlCol="0" anchor="ctr">
            <a:normAutofit/>
          </a:bodyPr>
          <a:lstStyle/>
          <a:p>
            <a:pPr indent="0" marL="0">
              <a:buNone/>
            </a:pPr>
            <a:r>
              <a:rPr lang="en-US" sz="950" dirty="0">
                <a:solidFill>
                  <a:srgbClr val="61736B"/>
                </a:solidFill>
              </a:rPr>
              <a:t>OSRM distance, duration and road-following coordinates</a:t>
            </a:r>
            <a:endParaRPr lang="en-US" sz="950" dirty="0"/>
          </a:p>
        </p:txBody>
      </p:sp>
      <p:sp>
        <p:nvSpPr>
          <p:cNvPr id="10" name="Text 7"/>
          <p:cNvSpPr/>
          <p:nvPr/>
        </p:nvSpPr>
        <p:spPr>
          <a:xfrm>
            <a:off x="7973568" y="2770632"/>
            <a:ext cx="3474720" cy="256032"/>
          </a:xfrm>
          <a:prstGeom prst="rect">
            <a:avLst/>
          </a:prstGeom>
          <a:noFill/>
          <a:ln/>
        </p:spPr>
        <p:txBody>
          <a:bodyPr wrap="square" lIns="0" tIns="0" rIns="0" bIns="0" rtlCol="0" anchor="ctr"/>
          <a:lstStyle/>
          <a:p>
            <a:pPr indent="0" marL="0">
              <a:buNone/>
            </a:pPr>
            <a:r>
              <a:rPr lang="en-US" sz="1400" b="1" dirty="0">
                <a:solidFill>
                  <a:srgbClr val="10231D"/>
                </a:solidFill>
              </a:rPr>
              <a:t>Context at a glance</a:t>
            </a:r>
            <a:endParaRPr lang="en-US" sz="1400" dirty="0"/>
          </a:p>
        </p:txBody>
      </p:sp>
      <p:sp>
        <p:nvSpPr>
          <p:cNvPr id="11" name="Text 8"/>
          <p:cNvSpPr/>
          <p:nvPr/>
        </p:nvSpPr>
        <p:spPr>
          <a:xfrm>
            <a:off x="7973568" y="3099816"/>
            <a:ext cx="3520440" cy="384048"/>
          </a:xfrm>
          <a:prstGeom prst="rect">
            <a:avLst/>
          </a:prstGeom>
          <a:noFill/>
          <a:ln/>
        </p:spPr>
        <p:txBody>
          <a:bodyPr wrap="square" lIns="0" tIns="0" rIns="0" bIns="0" rtlCol="0" anchor="ctr">
            <a:normAutofit/>
          </a:bodyPr>
          <a:lstStyle/>
          <a:p>
            <a:pPr indent="0" marL="0">
              <a:buNone/>
            </a:pPr>
            <a:r>
              <a:rPr lang="en-US" sz="950" dirty="0">
                <a:solidFill>
                  <a:srgbClr val="61736B"/>
                </a:solidFill>
              </a:rPr>
              <a:t>Ontario 511 incidents, satellite mode, hubs, fuel and truck stops</a:t>
            </a:r>
            <a:endParaRPr lang="en-US" sz="950" dirty="0"/>
          </a:p>
        </p:txBody>
      </p:sp>
      <p:sp>
        <p:nvSpPr>
          <p:cNvPr id="12" name="Text 9"/>
          <p:cNvSpPr/>
          <p:nvPr/>
        </p:nvSpPr>
        <p:spPr>
          <a:xfrm>
            <a:off x="7973568" y="3758184"/>
            <a:ext cx="3474720" cy="256032"/>
          </a:xfrm>
          <a:prstGeom prst="rect">
            <a:avLst/>
          </a:prstGeom>
          <a:noFill/>
          <a:ln/>
        </p:spPr>
        <p:txBody>
          <a:bodyPr wrap="square" lIns="0" tIns="0" rIns="0" bIns="0" rtlCol="0" anchor="ctr"/>
          <a:lstStyle/>
          <a:p>
            <a:pPr indent="0" marL="0">
              <a:buNone/>
            </a:pPr>
            <a:r>
              <a:rPr lang="en-US" sz="1400" b="1" dirty="0">
                <a:solidFill>
                  <a:srgbClr val="10231D"/>
                </a:solidFill>
              </a:rPr>
              <a:t>Track &amp; trace depth</a:t>
            </a:r>
            <a:endParaRPr lang="en-US" sz="1400" dirty="0"/>
          </a:p>
        </p:txBody>
      </p:sp>
      <p:sp>
        <p:nvSpPr>
          <p:cNvPr id="13" name="Text 10"/>
          <p:cNvSpPr/>
          <p:nvPr/>
        </p:nvSpPr>
        <p:spPr>
          <a:xfrm>
            <a:off x="7973568" y="4087368"/>
            <a:ext cx="3520440" cy="384048"/>
          </a:xfrm>
          <a:prstGeom prst="rect">
            <a:avLst/>
          </a:prstGeom>
          <a:noFill/>
          <a:ln/>
        </p:spPr>
        <p:txBody>
          <a:bodyPr wrap="square" lIns="0" tIns="0" rIns="0" bIns="0" rtlCol="0" anchor="ctr">
            <a:normAutofit/>
          </a:bodyPr>
          <a:lstStyle/>
          <a:p>
            <a:pPr indent="0" marL="0">
              <a:buNone/>
            </a:pPr>
            <a:r>
              <a:rPr lang="en-US" sz="950" dirty="0">
                <a:solidFill>
                  <a:srgbClr val="61736B"/>
                </a:solidFill>
              </a:rPr>
              <a:t>Breadcrumbs, speed, odometer and active route progress</a:t>
            </a:r>
            <a:endParaRPr lang="en-US" sz="950" dirty="0"/>
          </a:p>
        </p:txBody>
      </p:sp>
      <p:sp>
        <p:nvSpPr>
          <p:cNvPr id="14" name="Text 11"/>
          <p:cNvSpPr/>
          <p:nvPr/>
        </p:nvSpPr>
        <p:spPr>
          <a:xfrm>
            <a:off x="7973568" y="4745736"/>
            <a:ext cx="3474720" cy="256032"/>
          </a:xfrm>
          <a:prstGeom prst="rect">
            <a:avLst/>
          </a:prstGeom>
          <a:noFill/>
          <a:ln/>
        </p:spPr>
        <p:txBody>
          <a:bodyPr wrap="square" lIns="0" tIns="0" rIns="0" bIns="0" rtlCol="0" anchor="ctr"/>
          <a:lstStyle/>
          <a:p>
            <a:pPr indent="0" marL="0">
              <a:buNone/>
            </a:pPr>
            <a:r>
              <a:rPr lang="en-US" sz="1400" b="1" dirty="0">
                <a:solidFill>
                  <a:srgbClr val="10231D"/>
                </a:solidFill>
              </a:rPr>
              <a:t>Actionable edge cases</a:t>
            </a:r>
            <a:endParaRPr lang="en-US" sz="1400" dirty="0"/>
          </a:p>
        </p:txBody>
      </p:sp>
      <p:sp>
        <p:nvSpPr>
          <p:cNvPr id="15" name="Text 12"/>
          <p:cNvSpPr/>
          <p:nvPr/>
        </p:nvSpPr>
        <p:spPr>
          <a:xfrm>
            <a:off x="7973568" y="5074920"/>
            <a:ext cx="3520440" cy="384048"/>
          </a:xfrm>
          <a:prstGeom prst="rect">
            <a:avLst/>
          </a:prstGeom>
          <a:noFill/>
          <a:ln/>
        </p:spPr>
        <p:txBody>
          <a:bodyPr wrap="square" lIns="0" tIns="0" rIns="0" bIns="0" rtlCol="0" anchor="ctr">
            <a:normAutofit/>
          </a:bodyPr>
          <a:lstStyle/>
          <a:p>
            <a:pPr indent="0" marL="0">
              <a:buNone/>
            </a:pPr>
            <a:r>
              <a:rPr lang="en-US" sz="950" dirty="0">
                <a:solidFill>
                  <a:srgbClr val="61736B"/>
                </a:solidFill>
              </a:rPr>
              <a:t>Closures, shrinking HOS margin and dock dwell become decisions</a:t>
            </a:r>
            <a:endParaRPr lang="en-US" sz="950" dirty="0"/>
          </a:p>
        </p:txBody>
      </p:sp>
      <p:sp>
        <p:nvSpPr>
          <p:cNvPr id="16" name="Shape 13"/>
          <p:cNvSpPr/>
          <p:nvPr/>
        </p:nvSpPr>
        <p:spPr>
          <a:xfrm>
            <a:off x="7955280" y="5779008"/>
            <a:ext cx="3566160" cy="502920"/>
          </a:xfrm>
          <a:prstGeom prst="roundRect">
            <a:avLst>
              <a:gd name="adj" fmla="val 10909"/>
            </a:avLst>
          </a:prstGeom>
          <a:solidFill>
            <a:srgbClr val="071A16"/>
          </a:solidFill>
          <a:ln w="12700">
            <a:solidFill>
              <a:srgbClr val="071A16"/>
            </a:solidFill>
            <a:prstDash val="solid"/>
          </a:ln>
        </p:spPr>
      </p:sp>
      <p:sp>
        <p:nvSpPr>
          <p:cNvPr id="17" name="Text 14"/>
          <p:cNvSpPr/>
          <p:nvPr/>
        </p:nvSpPr>
        <p:spPr>
          <a:xfrm>
            <a:off x="8183880" y="5943600"/>
            <a:ext cx="3108960" cy="164592"/>
          </a:xfrm>
          <a:prstGeom prst="rect">
            <a:avLst/>
          </a:prstGeom>
          <a:noFill/>
          <a:ln/>
        </p:spPr>
        <p:txBody>
          <a:bodyPr wrap="square" lIns="0" tIns="0" rIns="0" bIns="0" rtlCol="0" anchor="ctr"/>
          <a:lstStyle/>
          <a:p>
            <a:pPr algn="ctr" indent="0" marL="0">
              <a:buNone/>
            </a:pPr>
            <a:r>
              <a:rPr lang="en-US" sz="1100" b="1" dirty="0">
                <a:solidFill>
                  <a:srgbClr val="2DD4A0"/>
                </a:solidFill>
              </a:rPr>
              <a:t>London  ↔  Milton  ↔  GTA</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8"/>
        </a:solidFill>
      </p:bgPr>
    </p:bg>
    <p:spTree>
      <p:nvGrpSpPr>
        <p:cNvPr id="1" name=""/>
        <p:cNvGrpSpPr/>
        <p:nvPr/>
      </p:nvGrpSpPr>
      <p:grpSpPr>
        <a:xfrm>
          <a:off x="0" y="0"/>
          <a:ext cx="0" cy="0"/>
          <a:chOff x="0" y="0"/>
          <a:chExt cx="0" cy="0"/>
        </a:xfrm>
      </p:grpSpPr>
      <p:sp>
        <p:nvSpPr>
          <p:cNvPr id="2" name="Text 0"/>
          <p:cNvSpPr/>
          <p:nvPr/>
        </p:nvSpPr>
        <p:spPr>
          <a:xfrm>
            <a:off x="411480" y="182880"/>
            <a:ext cx="2926080" cy="201168"/>
          </a:xfrm>
          <a:prstGeom prst="rect">
            <a:avLst/>
          </a:prstGeom>
          <a:noFill/>
          <a:ln/>
        </p:spPr>
        <p:txBody>
          <a:bodyPr wrap="square" lIns="0" tIns="0" rIns="0" bIns="0" rtlCol="0" anchor="ctr"/>
          <a:lstStyle/>
          <a:p>
            <a:pPr indent="0" marL="0">
              <a:buNone/>
            </a:pPr>
            <a:r>
              <a:rPr lang="en-US" sz="800" b="1" spc="200" kern="0" dirty="0">
                <a:solidFill>
                  <a:srgbClr val="0F8A63"/>
                </a:solidFill>
                <a:latin typeface="Aptos" pitchFamily="34" charset="0"/>
                <a:ea typeface="Aptos" pitchFamily="34" charset="-122"/>
                <a:cs typeface="Aptos" pitchFamily="34" charset="-120"/>
              </a:rPr>
              <a:t>ROADSTAR  /  DISPATCHOS</a:t>
            </a:r>
            <a:endParaRPr lang="en-US" sz="800" dirty="0"/>
          </a:p>
        </p:txBody>
      </p:sp>
      <p:sp>
        <p:nvSpPr>
          <p:cNvPr id="3" name="Text 1"/>
          <p:cNvSpPr/>
          <p:nvPr/>
        </p:nvSpPr>
        <p:spPr>
          <a:xfrm>
            <a:off x="11292840" y="182880"/>
            <a:ext cx="457200" cy="201168"/>
          </a:xfrm>
          <a:prstGeom prst="rect">
            <a:avLst/>
          </a:prstGeom>
          <a:noFill/>
          <a:ln/>
        </p:spPr>
        <p:txBody>
          <a:bodyPr wrap="square" lIns="0" tIns="0" rIns="0" bIns="0" rtlCol="0" anchor="ctr"/>
          <a:lstStyle/>
          <a:p>
            <a:pPr algn="r" indent="0" marL="0">
              <a:buNone/>
            </a:pPr>
            <a:r>
              <a:rPr lang="en-US" sz="800" b="1" dirty="0">
                <a:solidFill>
                  <a:srgbClr val="61736B"/>
                </a:solidFill>
              </a:rPr>
              <a:t>07</a:t>
            </a:r>
            <a:endParaRPr lang="en-US" sz="800" dirty="0"/>
          </a:p>
        </p:txBody>
      </p:sp>
      <p:sp>
        <p:nvSpPr>
          <p:cNvPr id="4" name="Text 2"/>
          <p:cNvSpPr/>
          <p:nvPr/>
        </p:nvSpPr>
        <p:spPr>
          <a:xfrm>
            <a:off x="502920" y="566928"/>
            <a:ext cx="3200400" cy="182880"/>
          </a:xfrm>
          <a:prstGeom prst="rect">
            <a:avLst/>
          </a:prstGeom>
          <a:noFill/>
          <a:ln/>
        </p:spPr>
        <p:txBody>
          <a:bodyPr wrap="square" lIns="0" tIns="0" rIns="0" bIns="0" rtlCol="0" anchor="ctr"/>
          <a:lstStyle/>
          <a:p>
            <a:pPr indent="0" marL="0">
              <a:buNone/>
            </a:pPr>
            <a:r>
              <a:rPr lang="en-US" sz="800" b="1" spc="160" kern="0" dirty="0">
                <a:solidFill>
                  <a:srgbClr val="0F8A63"/>
                </a:solidFill>
              </a:rPr>
              <a:t>DEPLOYABLE FOUNDATION</a:t>
            </a:r>
            <a:endParaRPr lang="en-US" sz="800" dirty="0"/>
          </a:p>
        </p:txBody>
      </p:sp>
      <p:sp>
        <p:nvSpPr>
          <p:cNvPr id="5" name="Text 3"/>
          <p:cNvSpPr/>
          <p:nvPr/>
        </p:nvSpPr>
        <p:spPr>
          <a:xfrm>
            <a:off x="502920" y="822960"/>
            <a:ext cx="11064240" cy="713232"/>
          </a:xfrm>
          <a:prstGeom prst="rect">
            <a:avLst/>
          </a:prstGeom>
          <a:noFill/>
          <a:ln/>
        </p:spPr>
        <p:txBody>
          <a:bodyPr wrap="square" lIns="0" tIns="0" rIns="0" bIns="0" rtlCol="0" anchor="ctr">
            <a:normAutofit/>
          </a:bodyPr>
          <a:lstStyle/>
          <a:p>
            <a:pPr indent="0" marL="0">
              <a:buNone/>
            </a:pPr>
            <a:r>
              <a:rPr lang="en-US" sz="2800" b="1" dirty="0">
                <a:solidFill>
                  <a:srgbClr val="10231D"/>
                </a:solidFill>
                <a:latin typeface="Aptos Display" pitchFamily="34" charset="0"/>
                <a:ea typeface="Aptos Display" pitchFamily="34" charset="-122"/>
                <a:cs typeface="Aptos Display" pitchFamily="34" charset="-120"/>
              </a:rPr>
              <a:t>The custom TMS core is live—and its integrations are designed to be replaceable.</a:t>
            </a:r>
            <a:endParaRPr lang="en-US" sz="2800" dirty="0"/>
          </a:p>
        </p:txBody>
      </p:sp>
      <p:sp>
        <p:nvSpPr>
          <p:cNvPr id="6" name="Shape 4"/>
          <p:cNvSpPr/>
          <p:nvPr/>
        </p:nvSpPr>
        <p:spPr>
          <a:xfrm>
            <a:off x="566928" y="1691640"/>
            <a:ext cx="1627632" cy="932688"/>
          </a:xfrm>
          <a:prstGeom prst="roundRect">
            <a:avLst>
              <a:gd name="adj" fmla="val 5882"/>
            </a:avLst>
          </a:prstGeom>
          <a:solidFill>
            <a:srgbClr val="071A16"/>
          </a:solidFill>
          <a:ln w="12700">
            <a:solidFill>
              <a:srgbClr val="071A16"/>
            </a:solidFill>
            <a:prstDash val="solid"/>
          </a:ln>
        </p:spPr>
      </p:sp>
      <p:sp>
        <p:nvSpPr>
          <p:cNvPr id="7" name="Text 5"/>
          <p:cNvSpPr/>
          <p:nvPr/>
        </p:nvSpPr>
        <p:spPr>
          <a:xfrm>
            <a:off x="713232" y="1856232"/>
            <a:ext cx="1325880" cy="292608"/>
          </a:xfrm>
          <a:prstGeom prst="rect">
            <a:avLst/>
          </a:prstGeom>
          <a:noFill/>
          <a:ln/>
        </p:spPr>
        <p:txBody>
          <a:bodyPr wrap="square" lIns="0" tIns="0" rIns="0" bIns="0" rtlCol="0" anchor="ctr"/>
          <a:lstStyle/>
          <a:p>
            <a:pPr algn="ctr" indent="0" marL="0">
              <a:buNone/>
            </a:pPr>
            <a:r>
              <a:rPr lang="en-US" sz="2000" b="1" dirty="0">
                <a:solidFill>
                  <a:srgbClr val="2DD4A0"/>
                </a:solidFill>
              </a:rPr>
              <a:t>LIVE</a:t>
            </a:r>
            <a:endParaRPr lang="en-US" sz="2000" dirty="0"/>
          </a:p>
        </p:txBody>
      </p:sp>
      <p:sp>
        <p:nvSpPr>
          <p:cNvPr id="8" name="Text 6"/>
          <p:cNvSpPr/>
          <p:nvPr/>
        </p:nvSpPr>
        <p:spPr>
          <a:xfrm>
            <a:off x="685800" y="2221992"/>
            <a:ext cx="1389888" cy="182880"/>
          </a:xfrm>
          <a:prstGeom prst="rect">
            <a:avLst/>
          </a:prstGeom>
          <a:noFill/>
          <a:ln/>
        </p:spPr>
        <p:txBody>
          <a:bodyPr wrap="square" lIns="0" tIns="0" rIns="0" bIns="0" rtlCol="0" anchor="ctr">
            <a:normAutofit/>
          </a:bodyPr>
          <a:lstStyle/>
          <a:p>
            <a:pPr algn="ctr" indent="0" marL="0">
              <a:buNone/>
            </a:pPr>
            <a:r>
              <a:rPr lang="en-US" sz="750" dirty="0">
                <a:solidFill>
                  <a:srgbClr val="FFFFFF"/>
                </a:solidFill>
              </a:rPr>
              <a:t>HTTPS production deployment</a:t>
            </a:r>
            <a:endParaRPr lang="en-US" sz="750" dirty="0"/>
          </a:p>
        </p:txBody>
      </p:sp>
      <p:sp>
        <p:nvSpPr>
          <p:cNvPr id="9" name="Shape 7"/>
          <p:cNvSpPr/>
          <p:nvPr/>
        </p:nvSpPr>
        <p:spPr>
          <a:xfrm>
            <a:off x="2441448" y="1691640"/>
            <a:ext cx="1627632" cy="932688"/>
          </a:xfrm>
          <a:prstGeom prst="roundRect">
            <a:avLst>
              <a:gd name="adj" fmla="val 5882"/>
            </a:avLst>
          </a:prstGeom>
          <a:solidFill>
            <a:srgbClr val="FFFFFF"/>
          </a:solidFill>
          <a:ln w="12700">
            <a:solidFill>
              <a:srgbClr val="D7E4DE"/>
            </a:solidFill>
            <a:prstDash val="solid"/>
          </a:ln>
        </p:spPr>
      </p:sp>
      <p:sp>
        <p:nvSpPr>
          <p:cNvPr id="10" name="Text 8"/>
          <p:cNvSpPr/>
          <p:nvPr/>
        </p:nvSpPr>
        <p:spPr>
          <a:xfrm>
            <a:off x="2587752" y="1856232"/>
            <a:ext cx="1325880" cy="292608"/>
          </a:xfrm>
          <a:prstGeom prst="rect">
            <a:avLst/>
          </a:prstGeom>
          <a:noFill/>
          <a:ln/>
        </p:spPr>
        <p:txBody>
          <a:bodyPr wrap="square" lIns="0" tIns="0" rIns="0" bIns="0" rtlCol="0" anchor="ctr"/>
          <a:lstStyle/>
          <a:p>
            <a:pPr algn="ctr" indent="0" marL="0">
              <a:buNone/>
            </a:pPr>
            <a:r>
              <a:rPr lang="en-US" sz="2000" b="1" dirty="0">
                <a:solidFill>
                  <a:srgbClr val="0F8A63"/>
                </a:solidFill>
              </a:rPr>
              <a:t>163</a:t>
            </a:r>
            <a:endParaRPr lang="en-US" sz="2000" dirty="0"/>
          </a:p>
        </p:txBody>
      </p:sp>
      <p:sp>
        <p:nvSpPr>
          <p:cNvPr id="11" name="Text 9"/>
          <p:cNvSpPr/>
          <p:nvPr/>
        </p:nvSpPr>
        <p:spPr>
          <a:xfrm>
            <a:off x="2560320" y="2221992"/>
            <a:ext cx="1389888" cy="182880"/>
          </a:xfrm>
          <a:prstGeom prst="rect">
            <a:avLst/>
          </a:prstGeom>
          <a:noFill/>
          <a:ln/>
        </p:spPr>
        <p:txBody>
          <a:bodyPr wrap="square" lIns="0" tIns="0" rIns="0" bIns="0" rtlCol="0" anchor="ctr">
            <a:normAutofit/>
          </a:bodyPr>
          <a:lstStyle/>
          <a:p>
            <a:pPr algn="ctr" indent="0" marL="0">
              <a:buNone/>
            </a:pPr>
            <a:r>
              <a:rPr lang="en-US" sz="750" dirty="0">
                <a:solidFill>
                  <a:srgbClr val="61736B"/>
                </a:solidFill>
              </a:rPr>
              <a:t>unit + integration checks</a:t>
            </a:r>
            <a:endParaRPr lang="en-US" sz="750" dirty="0"/>
          </a:p>
        </p:txBody>
      </p:sp>
      <p:sp>
        <p:nvSpPr>
          <p:cNvPr id="12" name="Shape 10"/>
          <p:cNvSpPr/>
          <p:nvPr/>
        </p:nvSpPr>
        <p:spPr>
          <a:xfrm>
            <a:off x="4315968" y="1691640"/>
            <a:ext cx="1627632" cy="932688"/>
          </a:xfrm>
          <a:prstGeom prst="roundRect">
            <a:avLst>
              <a:gd name="adj" fmla="val 5882"/>
            </a:avLst>
          </a:prstGeom>
          <a:solidFill>
            <a:srgbClr val="FFFFFF"/>
          </a:solidFill>
          <a:ln w="12700">
            <a:solidFill>
              <a:srgbClr val="D7E4DE"/>
            </a:solidFill>
            <a:prstDash val="solid"/>
          </a:ln>
        </p:spPr>
      </p:sp>
      <p:sp>
        <p:nvSpPr>
          <p:cNvPr id="13" name="Text 11"/>
          <p:cNvSpPr/>
          <p:nvPr/>
        </p:nvSpPr>
        <p:spPr>
          <a:xfrm>
            <a:off x="4462272" y="1856232"/>
            <a:ext cx="1325880" cy="292608"/>
          </a:xfrm>
          <a:prstGeom prst="rect">
            <a:avLst/>
          </a:prstGeom>
          <a:noFill/>
          <a:ln/>
        </p:spPr>
        <p:txBody>
          <a:bodyPr wrap="square" lIns="0" tIns="0" rIns="0" bIns="0" rtlCol="0" anchor="ctr"/>
          <a:lstStyle/>
          <a:p>
            <a:pPr algn="ctr" indent="0" marL="0">
              <a:buNone/>
            </a:pPr>
            <a:r>
              <a:rPr lang="en-US" sz="2000" b="1" dirty="0">
                <a:solidFill>
                  <a:srgbClr val="0F8A63"/>
                </a:solidFill>
              </a:rPr>
              <a:t>17</a:t>
            </a:r>
            <a:endParaRPr lang="en-US" sz="2000" dirty="0"/>
          </a:p>
        </p:txBody>
      </p:sp>
      <p:sp>
        <p:nvSpPr>
          <p:cNvPr id="14" name="Text 12"/>
          <p:cNvSpPr/>
          <p:nvPr/>
        </p:nvSpPr>
        <p:spPr>
          <a:xfrm>
            <a:off x="4434840" y="2221992"/>
            <a:ext cx="1389888" cy="182880"/>
          </a:xfrm>
          <a:prstGeom prst="rect">
            <a:avLst/>
          </a:prstGeom>
          <a:noFill/>
          <a:ln/>
        </p:spPr>
        <p:txBody>
          <a:bodyPr wrap="square" lIns="0" tIns="0" rIns="0" bIns="0" rtlCol="0" anchor="ctr">
            <a:normAutofit/>
          </a:bodyPr>
          <a:lstStyle/>
          <a:p>
            <a:pPr algn="ctr" indent="0" marL="0">
              <a:buNone/>
            </a:pPr>
            <a:r>
              <a:rPr lang="en-US" sz="750" dirty="0">
                <a:solidFill>
                  <a:srgbClr val="61736B"/>
                </a:solidFill>
              </a:rPr>
              <a:t>browser journeys</a:t>
            </a:r>
            <a:endParaRPr lang="en-US" sz="750" dirty="0"/>
          </a:p>
        </p:txBody>
      </p:sp>
      <p:sp>
        <p:nvSpPr>
          <p:cNvPr id="15" name="Shape 13"/>
          <p:cNvSpPr/>
          <p:nvPr/>
        </p:nvSpPr>
        <p:spPr>
          <a:xfrm>
            <a:off x="6190488" y="1691640"/>
            <a:ext cx="1627632" cy="932688"/>
          </a:xfrm>
          <a:prstGeom prst="roundRect">
            <a:avLst>
              <a:gd name="adj" fmla="val 5882"/>
            </a:avLst>
          </a:prstGeom>
          <a:solidFill>
            <a:srgbClr val="FFFFFF"/>
          </a:solidFill>
          <a:ln w="12700">
            <a:solidFill>
              <a:srgbClr val="D7E4DE"/>
            </a:solidFill>
            <a:prstDash val="solid"/>
          </a:ln>
        </p:spPr>
      </p:sp>
      <p:sp>
        <p:nvSpPr>
          <p:cNvPr id="16" name="Text 14"/>
          <p:cNvSpPr/>
          <p:nvPr/>
        </p:nvSpPr>
        <p:spPr>
          <a:xfrm>
            <a:off x="6336792" y="1856232"/>
            <a:ext cx="1325880" cy="292608"/>
          </a:xfrm>
          <a:prstGeom prst="rect">
            <a:avLst/>
          </a:prstGeom>
          <a:noFill/>
          <a:ln/>
        </p:spPr>
        <p:txBody>
          <a:bodyPr wrap="square" lIns="0" tIns="0" rIns="0" bIns="0" rtlCol="0" anchor="ctr"/>
          <a:lstStyle/>
          <a:p>
            <a:pPr algn="ctr" indent="0" marL="0">
              <a:buNone/>
            </a:pPr>
            <a:r>
              <a:rPr lang="en-US" sz="2000" b="1" dirty="0">
                <a:solidFill>
                  <a:srgbClr val="0F8A63"/>
                </a:solidFill>
              </a:rPr>
              <a:t>5</a:t>
            </a:r>
            <a:endParaRPr lang="en-US" sz="2000" dirty="0"/>
          </a:p>
        </p:txBody>
      </p:sp>
      <p:sp>
        <p:nvSpPr>
          <p:cNvPr id="17" name="Text 15"/>
          <p:cNvSpPr/>
          <p:nvPr/>
        </p:nvSpPr>
        <p:spPr>
          <a:xfrm>
            <a:off x="6309360" y="2221992"/>
            <a:ext cx="1389888" cy="182880"/>
          </a:xfrm>
          <a:prstGeom prst="rect">
            <a:avLst/>
          </a:prstGeom>
          <a:noFill/>
          <a:ln/>
        </p:spPr>
        <p:txBody>
          <a:bodyPr wrap="square" lIns="0" tIns="0" rIns="0" bIns="0" rtlCol="0" anchor="ctr">
            <a:normAutofit/>
          </a:bodyPr>
          <a:lstStyle/>
          <a:p>
            <a:pPr algn="ctr" indent="0" marL="0">
              <a:buNone/>
            </a:pPr>
            <a:r>
              <a:rPr lang="en-US" sz="750" dirty="0">
                <a:solidFill>
                  <a:srgbClr val="61736B"/>
                </a:solidFill>
              </a:rPr>
              <a:t>authenticated QA roles/accounts</a:t>
            </a:r>
            <a:endParaRPr lang="en-US" sz="750" dirty="0"/>
          </a:p>
        </p:txBody>
      </p:sp>
      <p:sp>
        <p:nvSpPr>
          <p:cNvPr id="18" name="Shape 16"/>
          <p:cNvSpPr/>
          <p:nvPr/>
        </p:nvSpPr>
        <p:spPr>
          <a:xfrm>
            <a:off x="8147304" y="1655064"/>
            <a:ext cx="3529584" cy="2020824"/>
          </a:xfrm>
          <a:prstGeom prst="roundRect">
            <a:avLst>
              <a:gd name="adj" fmla="val 3620"/>
            </a:avLst>
          </a:prstGeom>
          <a:solidFill>
            <a:srgbClr val="FFFFFF"/>
          </a:solidFill>
          <a:ln w="15240">
            <a:solidFill>
              <a:srgbClr val="D7E4DE"/>
            </a:solidFill>
            <a:prstDash val="solid"/>
          </a:ln>
          <a:effectLst>
            <a:outerShdw sx="100000" sy="100000" kx="0" ky="0" algn="bl" rotWithShape="0" blurRad="25400" dist="50800" dir="2700000">
              <a:srgbClr val="17362C">
                <a:alpha val="16000"/>
              </a:srgbClr>
            </a:outerShdw>
          </a:effectLst>
        </p:spPr>
      </p:sp>
      <p:pic>
        <p:nvPicPr>
          <p:cNvPr id="19" name="Image 0" descr="C:\Users\Sawaa\Documents\RoadStar DispatchOS\ RoadStar DispatchOS\deliverables\pitch-deck\assets\04_settings.png">    </p:cNvPr>
          <p:cNvPicPr>
            <a:picLocks noChangeAspect="1"/>
          </p:cNvPicPr>
          <p:nvPr/>
        </p:nvPicPr>
        <p:blipFill>
          <a:blip r:embed="rId1"/>
          <a:stretch>
            <a:fillRect/>
          </a:stretch>
        </p:blipFill>
        <p:spPr>
          <a:xfrm>
            <a:off x="8183880" y="1691640"/>
            <a:ext cx="3456432" cy="1947672"/>
          </a:xfrm>
          <a:prstGeom prst="rect">
            <a:avLst/>
          </a:prstGeom>
        </p:spPr>
      </p:pic>
      <p:sp>
        <p:nvSpPr>
          <p:cNvPr id="20" name="Text 17"/>
          <p:cNvSpPr/>
          <p:nvPr/>
        </p:nvSpPr>
        <p:spPr>
          <a:xfrm>
            <a:off x="566928" y="3154680"/>
            <a:ext cx="3840480" cy="182880"/>
          </a:xfrm>
          <a:prstGeom prst="rect">
            <a:avLst/>
          </a:prstGeom>
          <a:noFill/>
          <a:ln/>
        </p:spPr>
        <p:txBody>
          <a:bodyPr wrap="square" lIns="0" tIns="0" rIns="0" bIns="0" rtlCol="0" anchor="ctr"/>
          <a:lstStyle/>
          <a:p>
            <a:pPr indent="0" marL="0">
              <a:buNone/>
            </a:pPr>
            <a:r>
              <a:rPr lang="en-US" sz="800" b="1" spc="160" kern="0" dirty="0">
                <a:solidFill>
                  <a:srgbClr val="0F8A63"/>
                </a:solidFill>
              </a:rPr>
              <a:t>ROADSTAR-OWNED OPERATIONAL MODEL</a:t>
            </a:r>
            <a:endParaRPr lang="en-US" sz="800" dirty="0"/>
          </a:p>
        </p:txBody>
      </p:sp>
      <p:sp>
        <p:nvSpPr>
          <p:cNvPr id="21" name="Shape 18"/>
          <p:cNvSpPr/>
          <p:nvPr/>
        </p:nvSpPr>
        <p:spPr>
          <a:xfrm>
            <a:off x="566928" y="3675888"/>
            <a:ext cx="1417320" cy="566928"/>
          </a:xfrm>
          <a:prstGeom prst="roundRect">
            <a:avLst>
              <a:gd name="adj" fmla="val 8065"/>
            </a:avLst>
          </a:prstGeom>
          <a:solidFill>
            <a:srgbClr val="FFFFFF"/>
          </a:solidFill>
          <a:ln w="12700">
            <a:solidFill>
              <a:srgbClr val="D7E4DE"/>
            </a:solidFill>
            <a:prstDash val="solid"/>
          </a:ln>
        </p:spPr>
      </p:sp>
      <p:sp>
        <p:nvSpPr>
          <p:cNvPr id="22" name="Text 19"/>
          <p:cNvSpPr/>
          <p:nvPr/>
        </p:nvSpPr>
        <p:spPr>
          <a:xfrm>
            <a:off x="658368" y="3849624"/>
            <a:ext cx="1234440" cy="164592"/>
          </a:xfrm>
          <a:prstGeom prst="rect">
            <a:avLst/>
          </a:prstGeom>
          <a:noFill/>
          <a:ln/>
        </p:spPr>
        <p:txBody>
          <a:bodyPr wrap="square" lIns="0" tIns="0" rIns="0" bIns="0" rtlCol="0" anchor="ctr">
            <a:normAutofit/>
          </a:bodyPr>
          <a:lstStyle/>
          <a:p>
            <a:pPr algn="ctr" indent="0" marL="0">
              <a:buNone/>
            </a:pPr>
            <a:r>
              <a:rPr lang="en-US" sz="900" b="1" dirty="0">
                <a:solidFill>
                  <a:srgbClr val="10231D"/>
                </a:solidFill>
              </a:rPr>
              <a:t>loads</a:t>
            </a:r>
            <a:endParaRPr lang="en-US" sz="900" dirty="0"/>
          </a:p>
        </p:txBody>
      </p:sp>
      <p:sp>
        <p:nvSpPr>
          <p:cNvPr id="23" name="Shape 20"/>
          <p:cNvSpPr/>
          <p:nvPr/>
        </p:nvSpPr>
        <p:spPr>
          <a:xfrm>
            <a:off x="2240280" y="3675888"/>
            <a:ext cx="1417320" cy="566928"/>
          </a:xfrm>
          <a:prstGeom prst="roundRect">
            <a:avLst>
              <a:gd name="adj" fmla="val 8065"/>
            </a:avLst>
          </a:prstGeom>
          <a:solidFill>
            <a:srgbClr val="E8F5F0"/>
          </a:solidFill>
          <a:ln w="12700">
            <a:solidFill>
              <a:srgbClr val="A9D9C8"/>
            </a:solidFill>
            <a:prstDash val="solid"/>
          </a:ln>
        </p:spPr>
      </p:sp>
      <p:sp>
        <p:nvSpPr>
          <p:cNvPr id="24" name="Text 21"/>
          <p:cNvSpPr/>
          <p:nvPr/>
        </p:nvSpPr>
        <p:spPr>
          <a:xfrm>
            <a:off x="2331720" y="3849624"/>
            <a:ext cx="1234440" cy="164592"/>
          </a:xfrm>
          <a:prstGeom prst="rect">
            <a:avLst/>
          </a:prstGeom>
          <a:noFill/>
          <a:ln/>
        </p:spPr>
        <p:txBody>
          <a:bodyPr wrap="square" lIns="0" tIns="0" rIns="0" bIns="0" rtlCol="0" anchor="ctr">
            <a:normAutofit/>
          </a:bodyPr>
          <a:lstStyle/>
          <a:p>
            <a:pPr algn="ctr" indent="0" marL="0">
              <a:buNone/>
            </a:pPr>
            <a:r>
              <a:rPr lang="en-US" sz="900" b="1" dirty="0">
                <a:solidFill>
                  <a:srgbClr val="10231D"/>
                </a:solidFill>
              </a:rPr>
              <a:t>cargo_items</a:t>
            </a:r>
            <a:endParaRPr lang="en-US" sz="900" dirty="0"/>
          </a:p>
        </p:txBody>
      </p:sp>
      <p:sp>
        <p:nvSpPr>
          <p:cNvPr id="25" name="Shape 22"/>
          <p:cNvSpPr/>
          <p:nvPr/>
        </p:nvSpPr>
        <p:spPr>
          <a:xfrm>
            <a:off x="3977640" y="3675888"/>
            <a:ext cx="1417320" cy="566928"/>
          </a:xfrm>
          <a:prstGeom prst="roundRect">
            <a:avLst>
              <a:gd name="adj" fmla="val 8065"/>
            </a:avLst>
          </a:prstGeom>
          <a:solidFill>
            <a:srgbClr val="FFFFFF"/>
          </a:solidFill>
          <a:ln w="12700">
            <a:solidFill>
              <a:srgbClr val="D7E4DE"/>
            </a:solidFill>
            <a:prstDash val="solid"/>
          </a:ln>
        </p:spPr>
      </p:sp>
      <p:sp>
        <p:nvSpPr>
          <p:cNvPr id="26" name="Text 23"/>
          <p:cNvSpPr/>
          <p:nvPr/>
        </p:nvSpPr>
        <p:spPr>
          <a:xfrm>
            <a:off x="4069080" y="3849624"/>
            <a:ext cx="1234440" cy="164592"/>
          </a:xfrm>
          <a:prstGeom prst="rect">
            <a:avLst/>
          </a:prstGeom>
          <a:noFill/>
          <a:ln/>
        </p:spPr>
        <p:txBody>
          <a:bodyPr wrap="square" lIns="0" tIns="0" rIns="0" bIns="0" rtlCol="0" anchor="ctr">
            <a:normAutofit/>
          </a:bodyPr>
          <a:lstStyle/>
          <a:p>
            <a:pPr algn="ctr" indent="0" marL="0">
              <a:buNone/>
            </a:pPr>
            <a:r>
              <a:rPr lang="en-US" sz="900" b="1" dirty="0">
                <a:solidFill>
                  <a:srgbClr val="10231D"/>
                </a:solidFill>
              </a:rPr>
              <a:t>loading_plans</a:t>
            </a:r>
            <a:endParaRPr lang="en-US" sz="900" dirty="0"/>
          </a:p>
        </p:txBody>
      </p:sp>
      <p:sp>
        <p:nvSpPr>
          <p:cNvPr id="27" name="Shape 24"/>
          <p:cNvSpPr/>
          <p:nvPr/>
        </p:nvSpPr>
        <p:spPr>
          <a:xfrm>
            <a:off x="5852160" y="3675888"/>
            <a:ext cx="1417320" cy="566928"/>
          </a:xfrm>
          <a:prstGeom prst="roundRect">
            <a:avLst>
              <a:gd name="adj" fmla="val 8065"/>
            </a:avLst>
          </a:prstGeom>
          <a:solidFill>
            <a:srgbClr val="E8F5F0"/>
          </a:solidFill>
          <a:ln w="12700">
            <a:solidFill>
              <a:srgbClr val="A9D9C8"/>
            </a:solidFill>
            <a:prstDash val="solid"/>
          </a:ln>
        </p:spPr>
      </p:sp>
      <p:sp>
        <p:nvSpPr>
          <p:cNvPr id="28" name="Text 25"/>
          <p:cNvSpPr/>
          <p:nvPr/>
        </p:nvSpPr>
        <p:spPr>
          <a:xfrm>
            <a:off x="5943600" y="3849624"/>
            <a:ext cx="1234440" cy="164592"/>
          </a:xfrm>
          <a:prstGeom prst="rect">
            <a:avLst/>
          </a:prstGeom>
          <a:noFill/>
          <a:ln/>
        </p:spPr>
        <p:txBody>
          <a:bodyPr wrap="square" lIns="0" tIns="0" rIns="0" bIns="0" rtlCol="0" anchor="ctr">
            <a:normAutofit/>
          </a:bodyPr>
          <a:lstStyle/>
          <a:p>
            <a:pPr algn="ctr" indent="0" marL="0">
              <a:buNone/>
            </a:pPr>
            <a:r>
              <a:rPr lang="en-US" sz="900" b="1" dirty="0">
                <a:solidFill>
                  <a:srgbClr val="10231D"/>
                </a:solidFill>
              </a:rPr>
              <a:t>trailers</a:t>
            </a:r>
            <a:endParaRPr lang="en-US" sz="900" dirty="0"/>
          </a:p>
        </p:txBody>
      </p:sp>
      <p:sp>
        <p:nvSpPr>
          <p:cNvPr id="29" name="Shape 26"/>
          <p:cNvSpPr/>
          <p:nvPr/>
        </p:nvSpPr>
        <p:spPr>
          <a:xfrm>
            <a:off x="566928" y="4800600"/>
            <a:ext cx="1417320" cy="566928"/>
          </a:xfrm>
          <a:prstGeom prst="roundRect">
            <a:avLst>
              <a:gd name="adj" fmla="val 8065"/>
            </a:avLst>
          </a:prstGeom>
          <a:solidFill>
            <a:srgbClr val="FFFFFF"/>
          </a:solidFill>
          <a:ln w="12700">
            <a:solidFill>
              <a:srgbClr val="D7E4DE"/>
            </a:solidFill>
            <a:prstDash val="solid"/>
          </a:ln>
        </p:spPr>
      </p:sp>
      <p:sp>
        <p:nvSpPr>
          <p:cNvPr id="30" name="Text 27"/>
          <p:cNvSpPr/>
          <p:nvPr/>
        </p:nvSpPr>
        <p:spPr>
          <a:xfrm>
            <a:off x="658368" y="4974336"/>
            <a:ext cx="1234440" cy="164592"/>
          </a:xfrm>
          <a:prstGeom prst="rect">
            <a:avLst/>
          </a:prstGeom>
          <a:noFill/>
          <a:ln/>
        </p:spPr>
        <p:txBody>
          <a:bodyPr wrap="square" lIns="0" tIns="0" rIns="0" bIns="0" rtlCol="0" anchor="ctr">
            <a:normAutofit/>
          </a:bodyPr>
          <a:lstStyle/>
          <a:p>
            <a:pPr algn="ctr" indent="0" marL="0">
              <a:buNone/>
            </a:pPr>
            <a:r>
              <a:rPr lang="en-US" sz="900" b="1" dirty="0">
                <a:solidFill>
                  <a:srgbClr val="10231D"/>
                </a:solidFill>
              </a:rPr>
              <a:t>drivers</a:t>
            </a:r>
            <a:endParaRPr lang="en-US" sz="900" dirty="0"/>
          </a:p>
        </p:txBody>
      </p:sp>
      <p:sp>
        <p:nvSpPr>
          <p:cNvPr id="31" name="Shape 28"/>
          <p:cNvSpPr/>
          <p:nvPr/>
        </p:nvSpPr>
        <p:spPr>
          <a:xfrm>
            <a:off x="2240280" y="4800600"/>
            <a:ext cx="1417320" cy="566928"/>
          </a:xfrm>
          <a:prstGeom prst="roundRect">
            <a:avLst>
              <a:gd name="adj" fmla="val 8065"/>
            </a:avLst>
          </a:prstGeom>
          <a:solidFill>
            <a:srgbClr val="E8F5F0"/>
          </a:solidFill>
          <a:ln w="12700">
            <a:solidFill>
              <a:srgbClr val="A9D9C8"/>
            </a:solidFill>
            <a:prstDash val="solid"/>
          </a:ln>
        </p:spPr>
      </p:sp>
      <p:sp>
        <p:nvSpPr>
          <p:cNvPr id="32" name="Text 29"/>
          <p:cNvSpPr/>
          <p:nvPr/>
        </p:nvSpPr>
        <p:spPr>
          <a:xfrm>
            <a:off x="2331720" y="4974336"/>
            <a:ext cx="1234440" cy="164592"/>
          </a:xfrm>
          <a:prstGeom prst="rect">
            <a:avLst/>
          </a:prstGeom>
          <a:noFill/>
          <a:ln/>
        </p:spPr>
        <p:txBody>
          <a:bodyPr wrap="square" lIns="0" tIns="0" rIns="0" bIns="0" rtlCol="0" anchor="ctr">
            <a:normAutofit/>
          </a:bodyPr>
          <a:lstStyle/>
          <a:p>
            <a:pPr algn="ctr" indent="0" marL="0">
              <a:buNone/>
            </a:pPr>
            <a:r>
              <a:rPr lang="en-US" sz="900" b="1" dirty="0">
                <a:solidFill>
                  <a:srgbClr val="10231D"/>
                </a:solidFill>
              </a:rPr>
              <a:t>recommendations</a:t>
            </a:r>
            <a:endParaRPr lang="en-US" sz="900" dirty="0"/>
          </a:p>
        </p:txBody>
      </p:sp>
      <p:sp>
        <p:nvSpPr>
          <p:cNvPr id="33" name="Shape 30"/>
          <p:cNvSpPr/>
          <p:nvPr/>
        </p:nvSpPr>
        <p:spPr>
          <a:xfrm>
            <a:off x="3977640" y="4800600"/>
            <a:ext cx="1417320" cy="566928"/>
          </a:xfrm>
          <a:prstGeom prst="roundRect">
            <a:avLst>
              <a:gd name="adj" fmla="val 8065"/>
            </a:avLst>
          </a:prstGeom>
          <a:solidFill>
            <a:srgbClr val="FFFFFF"/>
          </a:solidFill>
          <a:ln w="12700">
            <a:solidFill>
              <a:srgbClr val="D7E4DE"/>
            </a:solidFill>
            <a:prstDash val="solid"/>
          </a:ln>
        </p:spPr>
      </p:sp>
      <p:sp>
        <p:nvSpPr>
          <p:cNvPr id="34" name="Text 31"/>
          <p:cNvSpPr/>
          <p:nvPr/>
        </p:nvSpPr>
        <p:spPr>
          <a:xfrm>
            <a:off x="4069080" y="4974336"/>
            <a:ext cx="1234440" cy="164592"/>
          </a:xfrm>
          <a:prstGeom prst="rect">
            <a:avLst/>
          </a:prstGeom>
          <a:noFill/>
          <a:ln/>
        </p:spPr>
        <p:txBody>
          <a:bodyPr wrap="square" lIns="0" tIns="0" rIns="0" bIns="0" rtlCol="0" anchor="ctr">
            <a:normAutofit/>
          </a:bodyPr>
          <a:lstStyle/>
          <a:p>
            <a:pPr algn="ctr" indent="0" marL="0">
              <a:buNone/>
            </a:pPr>
            <a:r>
              <a:rPr lang="en-US" sz="900" b="1" dirty="0">
                <a:solidFill>
                  <a:srgbClr val="10231D"/>
                </a:solidFill>
              </a:rPr>
              <a:t>decision_records</a:t>
            </a:r>
            <a:endParaRPr lang="en-US" sz="900" dirty="0"/>
          </a:p>
        </p:txBody>
      </p:sp>
      <p:sp>
        <p:nvSpPr>
          <p:cNvPr id="35" name="Shape 32"/>
          <p:cNvSpPr/>
          <p:nvPr/>
        </p:nvSpPr>
        <p:spPr>
          <a:xfrm>
            <a:off x="5852160" y="4800600"/>
            <a:ext cx="1417320" cy="566928"/>
          </a:xfrm>
          <a:prstGeom prst="roundRect">
            <a:avLst>
              <a:gd name="adj" fmla="val 8065"/>
            </a:avLst>
          </a:prstGeom>
          <a:solidFill>
            <a:srgbClr val="E8F5F0"/>
          </a:solidFill>
          <a:ln w="12700">
            <a:solidFill>
              <a:srgbClr val="A9D9C8"/>
            </a:solidFill>
            <a:prstDash val="solid"/>
          </a:ln>
        </p:spPr>
      </p:sp>
      <p:sp>
        <p:nvSpPr>
          <p:cNvPr id="36" name="Text 33"/>
          <p:cNvSpPr/>
          <p:nvPr/>
        </p:nvSpPr>
        <p:spPr>
          <a:xfrm>
            <a:off x="5943600" y="4974336"/>
            <a:ext cx="1234440" cy="164592"/>
          </a:xfrm>
          <a:prstGeom prst="rect">
            <a:avLst/>
          </a:prstGeom>
          <a:noFill/>
          <a:ln/>
        </p:spPr>
        <p:txBody>
          <a:bodyPr wrap="square" lIns="0" tIns="0" rIns="0" bIns="0" rtlCol="0" anchor="ctr">
            <a:normAutofit/>
          </a:bodyPr>
          <a:lstStyle/>
          <a:p>
            <a:pPr algn="ctr" indent="0" marL="0">
              <a:buNone/>
            </a:pPr>
            <a:r>
              <a:rPr lang="en-US" sz="900" b="1" dirty="0">
                <a:solidFill>
                  <a:srgbClr val="10231D"/>
                </a:solidFill>
              </a:rPr>
              <a:t>detention_events</a:t>
            </a:r>
            <a:endParaRPr lang="en-US" sz="900" dirty="0"/>
          </a:p>
        </p:txBody>
      </p:sp>
      <p:sp>
        <p:nvSpPr>
          <p:cNvPr id="37" name="Shape 34"/>
          <p:cNvSpPr/>
          <p:nvPr/>
        </p:nvSpPr>
        <p:spPr>
          <a:xfrm>
            <a:off x="1984248" y="3959352"/>
            <a:ext cx="256032" cy="0"/>
          </a:xfrm>
          <a:prstGeom prst="line">
            <a:avLst/>
          </a:prstGeom>
          <a:noFill/>
          <a:ln w="15240">
            <a:solidFill>
              <a:srgbClr val="91B8AA"/>
            </a:solidFill>
            <a:prstDash val="solid"/>
            <a:headEnd type="none"/>
            <a:tailEnd type="triangle"/>
          </a:ln>
        </p:spPr>
      </p:sp>
      <p:sp>
        <p:nvSpPr>
          <p:cNvPr id="38" name="Shape 35"/>
          <p:cNvSpPr/>
          <p:nvPr/>
        </p:nvSpPr>
        <p:spPr>
          <a:xfrm>
            <a:off x="3657600" y="3959352"/>
            <a:ext cx="320040" cy="0"/>
          </a:xfrm>
          <a:prstGeom prst="line">
            <a:avLst/>
          </a:prstGeom>
          <a:noFill/>
          <a:ln w="15240">
            <a:solidFill>
              <a:srgbClr val="91B8AA"/>
            </a:solidFill>
            <a:prstDash val="solid"/>
            <a:headEnd type="none"/>
            <a:tailEnd type="triangle"/>
          </a:ln>
        </p:spPr>
      </p:sp>
      <p:sp>
        <p:nvSpPr>
          <p:cNvPr id="39" name="Shape 36"/>
          <p:cNvSpPr/>
          <p:nvPr/>
        </p:nvSpPr>
        <p:spPr>
          <a:xfrm>
            <a:off x="5394960" y="3959352"/>
            <a:ext cx="457200" cy="0"/>
          </a:xfrm>
          <a:prstGeom prst="line">
            <a:avLst/>
          </a:prstGeom>
          <a:noFill/>
          <a:ln w="15240">
            <a:solidFill>
              <a:srgbClr val="91B8AA"/>
            </a:solidFill>
            <a:prstDash val="solid"/>
            <a:headEnd type="none"/>
            <a:tailEnd type="triangle"/>
          </a:ln>
        </p:spPr>
      </p:sp>
      <p:sp>
        <p:nvSpPr>
          <p:cNvPr id="40" name="Shape 37"/>
          <p:cNvSpPr/>
          <p:nvPr/>
        </p:nvSpPr>
        <p:spPr>
          <a:xfrm>
            <a:off x="1984248" y="5084064"/>
            <a:ext cx="256032" cy="0"/>
          </a:xfrm>
          <a:prstGeom prst="line">
            <a:avLst/>
          </a:prstGeom>
          <a:noFill/>
          <a:ln w="15240">
            <a:solidFill>
              <a:srgbClr val="91B8AA"/>
            </a:solidFill>
            <a:prstDash val="solid"/>
            <a:headEnd type="none"/>
            <a:tailEnd type="triangle"/>
          </a:ln>
        </p:spPr>
      </p:sp>
      <p:sp>
        <p:nvSpPr>
          <p:cNvPr id="41" name="Shape 38"/>
          <p:cNvSpPr/>
          <p:nvPr/>
        </p:nvSpPr>
        <p:spPr>
          <a:xfrm>
            <a:off x="3657600" y="5084064"/>
            <a:ext cx="320040" cy="0"/>
          </a:xfrm>
          <a:prstGeom prst="line">
            <a:avLst/>
          </a:prstGeom>
          <a:noFill/>
          <a:ln w="15240">
            <a:solidFill>
              <a:srgbClr val="91B8AA"/>
            </a:solidFill>
            <a:prstDash val="solid"/>
            <a:headEnd type="none"/>
            <a:tailEnd type="triangle"/>
          </a:ln>
        </p:spPr>
      </p:sp>
      <p:sp>
        <p:nvSpPr>
          <p:cNvPr id="42" name="Shape 39"/>
          <p:cNvSpPr/>
          <p:nvPr/>
        </p:nvSpPr>
        <p:spPr>
          <a:xfrm>
            <a:off x="5394960" y="5084064"/>
            <a:ext cx="457200" cy="0"/>
          </a:xfrm>
          <a:prstGeom prst="line">
            <a:avLst/>
          </a:prstGeom>
          <a:noFill/>
          <a:ln w="15240">
            <a:solidFill>
              <a:srgbClr val="91B8AA"/>
            </a:solidFill>
            <a:prstDash val="solid"/>
            <a:headEnd type="none"/>
            <a:tailEnd type="triangle"/>
          </a:ln>
        </p:spPr>
      </p:sp>
      <p:sp>
        <p:nvSpPr>
          <p:cNvPr id="43" name="Shape 40"/>
          <p:cNvSpPr/>
          <p:nvPr/>
        </p:nvSpPr>
        <p:spPr>
          <a:xfrm>
            <a:off x="1280160" y="4242816"/>
            <a:ext cx="0" cy="557784"/>
          </a:xfrm>
          <a:prstGeom prst="line">
            <a:avLst/>
          </a:prstGeom>
          <a:noFill/>
          <a:ln w="15240">
            <a:solidFill>
              <a:srgbClr val="91B8AA"/>
            </a:solidFill>
            <a:prstDash val="solid"/>
            <a:headEnd type="none"/>
            <a:tailEnd type="triangle"/>
          </a:ln>
        </p:spPr>
      </p:sp>
      <p:sp>
        <p:nvSpPr>
          <p:cNvPr id="44" name="Shape 41"/>
          <p:cNvSpPr/>
          <p:nvPr/>
        </p:nvSpPr>
        <p:spPr>
          <a:xfrm>
            <a:off x="6565392" y="4242816"/>
            <a:ext cx="0" cy="557784"/>
          </a:xfrm>
          <a:prstGeom prst="line">
            <a:avLst/>
          </a:prstGeom>
          <a:noFill/>
          <a:ln w="15240">
            <a:solidFill>
              <a:srgbClr val="91B8AA"/>
            </a:solidFill>
            <a:prstDash val="solid"/>
            <a:headEnd type="none"/>
            <a:tailEnd type="triangle"/>
          </a:ln>
        </p:spPr>
      </p:sp>
      <p:sp>
        <p:nvSpPr>
          <p:cNvPr id="45" name="Shape 42"/>
          <p:cNvSpPr/>
          <p:nvPr/>
        </p:nvSpPr>
        <p:spPr>
          <a:xfrm>
            <a:off x="8183880" y="3968496"/>
            <a:ext cx="3456432" cy="1508760"/>
          </a:xfrm>
          <a:prstGeom prst="roundRect">
            <a:avLst>
              <a:gd name="adj" fmla="val 3636"/>
            </a:avLst>
          </a:prstGeom>
          <a:solidFill>
            <a:srgbClr val="071A16"/>
          </a:solidFill>
          <a:ln w="12700">
            <a:solidFill>
              <a:srgbClr val="071A16"/>
            </a:solidFill>
            <a:prstDash val="solid"/>
          </a:ln>
        </p:spPr>
      </p:sp>
      <p:sp>
        <p:nvSpPr>
          <p:cNvPr id="46" name="Text 43"/>
          <p:cNvSpPr/>
          <p:nvPr/>
        </p:nvSpPr>
        <p:spPr>
          <a:xfrm>
            <a:off x="8458200" y="4251960"/>
            <a:ext cx="2880360" cy="228600"/>
          </a:xfrm>
          <a:prstGeom prst="rect">
            <a:avLst/>
          </a:prstGeom>
          <a:noFill/>
          <a:ln/>
        </p:spPr>
        <p:txBody>
          <a:bodyPr wrap="square" lIns="0" tIns="0" rIns="0" bIns="0" rtlCol="0" anchor="ctr"/>
          <a:lstStyle/>
          <a:p>
            <a:pPr indent="0" marL="0">
              <a:buNone/>
            </a:pPr>
            <a:r>
              <a:rPr lang="en-US" sz="1500" b="1" dirty="0">
                <a:solidFill>
                  <a:srgbClr val="FFFFFF"/>
                </a:solidFill>
              </a:rPr>
              <a:t>Stable adapter contracts</a:t>
            </a:r>
            <a:endParaRPr lang="en-US" sz="1500" dirty="0"/>
          </a:p>
        </p:txBody>
      </p:sp>
      <p:sp>
        <p:nvSpPr>
          <p:cNvPr id="47" name="Text 44"/>
          <p:cNvSpPr/>
          <p:nvPr/>
        </p:nvSpPr>
        <p:spPr>
          <a:xfrm>
            <a:off x="8458200" y="4599432"/>
            <a:ext cx="2743200" cy="658368"/>
          </a:xfrm>
          <a:prstGeom prst="rect">
            <a:avLst/>
          </a:prstGeom>
          <a:noFill/>
          <a:ln/>
        </p:spPr>
        <p:txBody>
          <a:bodyPr wrap="square" lIns="127" tIns="127" rIns="127" bIns="127" rtlCol="0" anchor="ctr">
            <a:normAutofit/>
          </a:bodyPr>
          <a:lstStyle/>
          <a:p>
            <a:pPr indent="0" marL="0">
              <a:buNone/>
            </a:pPr>
            <a:r>
              <a:rPr lang="en-US" sz="1000" dirty="0">
                <a:solidFill>
                  <a:srgbClr val="C3DBD2"/>
                </a:solidFill>
              </a:rPr>
              <a:t>ELD / telemetry</a:t>
            </a:r>
            <a:endParaRPr lang="en-US" sz="1000" dirty="0"/>
          </a:p>
          <a:p>
            <a:pPr indent="0" marL="0">
              <a:buNone/>
            </a:pPr>
            <a:r>
              <a:rPr lang="en-US" sz="1000" dirty="0">
                <a:solidFill>
                  <a:srgbClr val="C3DBD2"/>
                </a:solidFill>
              </a:rPr>
              <a:t>TMS load exchange + outbox</a:t>
            </a:r>
            <a:endParaRPr lang="en-US" sz="1000" dirty="0"/>
          </a:p>
          <a:p>
            <a:pPr indent="0" marL="0">
              <a:buNone/>
            </a:pPr>
            <a:r>
              <a:rPr lang="en-US" sz="1000" dirty="0">
                <a:solidFill>
                  <a:srgbClr val="C3DBD2"/>
                </a:solidFill>
              </a:rPr>
              <a:t>Routing + Ontario 511</a:t>
            </a:r>
            <a:endParaRPr lang="en-US" sz="1000" dirty="0"/>
          </a:p>
          <a:p>
            <a:pPr indent="0" marL="0">
              <a:buNone/>
            </a:pPr>
            <a:r>
              <a:rPr lang="en-US" sz="1000" dirty="0">
                <a:solidFill>
                  <a:srgbClr val="C3DBD2"/>
                </a:solidFill>
              </a:rPr>
              <a:t>AI document intake</a:t>
            </a:r>
            <a:endParaRPr lang="en-US" sz="1000" dirty="0"/>
          </a:p>
        </p:txBody>
      </p:sp>
      <p:sp>
        <p:nvSpPr>
          <p:cNvPr id="48" name="Text 45"/>
          <p:cNvSpPr/>
          <p:nvPr/>
        </p:nvSpPr>
        <p:spPr>
          <a:xfrm>
            <a:off x="566928" y="5897880"/>
            <a:ext cx="10881360" cy="384048"/>
          </a:xfrm>
          <a:prstGeom prst="rect">
            <a:avLst/>
          </a:prstGeom>
          <a:noFill/>
          <a:ln/>
        </p:spPr>
        <p:txBody>
          <a:bodyPr wrap="square" lIns="0" tIns="0" rIns="0" bIns="0" rtlCol="0" anchor="ctr">
            <a:normAutofit/>
          </a:bodyPr>
          <a:lstStyle/>
          <a:p>
            <a:pPr algn="ctr" indent="0" marL="0">
              <a:buNone/>
            </a:pPr>
            <a:r>
              <a:rPr lang="en-US" sz="1150" b="1" dirty="0">
                <a:solidFill>
                  <a:srgbClr val="0F8A63"/>
                </a:solidFill>
              </a:rPr>
              <a:t>No third-party TMS dependency: RoadStar owns the workflow, rules, schema and decision history. Managed infrastructure and data providers remain swappable.</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1A16"/>
        </a:solidFill>
      </p:bgPr>
    </p:bg>
    <p:spTree>
      <p:nvGrpSpPr>
        <p:cNvPr id="1" name=""/>
        <p:cNvGrpSpPr/>
        <p:nvPr/>
      </p:nvGrpSpPr>
      <p:grpSpPr>
        <a:xfrm>
          <a:off x="0" y="0"/>
          <a:ext cx="0" cy="0"/>
          <a:chOff x="0" y="0"/>
          <a:chExt cx="0" cy="0"/>
        </a:xfrm>
      </p:grpSpPr>
      <p:sp>
        <p:nvSpPr>
          <p:cNvPr id="2" name="Text 0"/>
          <p:cNvSpPr/>
          <p:nvPr/>
        </p:nvSpPr>
        <p:spPr>
          <a:xfrm>
            <a:off x="411480" y="182880"/>
            <a:ext cx="2926080" cy="201168"/>
          </a:xfrm>
          <a:prstGeom prst="rect">
            <a:avLst/>
          </a:prstGeom>
          <a:noFill/>
          <a:ln/>
        </p:spPr>
        <p:txBody>
          <a:bodyPr wrap="square" lIns="0" tIns="0" rIns="0" bIns="0" rtlCol="0" anchor="ctr"/>
          <a:lstStyle/>
          <a:p>
            <a:pPr indent="0" marL="0">
              <a:buNone/>
            </a:pPr>
            <a:r>
              <a:rPr lang="en-US" sz="800" b="1" spc="200" kern="0" dirty="0">
                <a:solidFill>
                  <a:srgbClr val="2DD4A0"/>
                </a:solidFill>
                <a:latin typeface="Aptos" pitchFamily="34" charset="0"/>
                <a:ea typeface="Aptos" pitchFamily="34" charset="-122"/>
                <a:cs typeface="Aptos" pitchFamily="34" charset="-120"/>
              </a:rPr>
              <a:t>ROADSTAR  /  DISPATCHOS</a:t>
            </a:r>
            <a:endParaRPr lang="en-US" sz="800" dirty="0"/>
          </a:p>
        </p:txBody>
      </p:sp>
      <p:sp>
        <p:nvSpPr>
          <p:cNvPr id="3" name="Text 1"/>
          <p:cNvSpPr/>
          <p:nvPr/>
        </p:nvSpPr>
        <p:spPr>
          <a:xfrm>
            <a:off x="11292840" y="182880"/>
            <a:ext cx="457200" cy="201168"/>
          </a:xfrm>
          <a:prstGeom prst="rect">
            <a:avLst/>
          </a:prstGeom>
          <a:noFill/>
          <a:ln/>
        </p:spPr>
        <p:txBody>
          <a:bodyPr wrap="square" lIns="0" tIns="0" rIns="0" bIns="0" rtlCol="0" anchor="ctr"/>
          <a:lstStyle/>
          <a:p>
            <a:pPr algn="r" indent="0" marL="0">
              <a:buNone/>
            </a:pPr>
            <a:r>
              <a:rPr lang="en-US" sz="800" b="1" dirty="0">
                <a:solidFill>
                  <a:srgbClr val="8FC8B5"/>
                </a:solidFill>
              </a:rPr>
              <a:t>08</a:t>
            </a:r>
            <a:endParaRPr lang="en-US" sz="800" dirty="0"/>
          </a:p>
        </p:txBody>
      </p:sp>
      <p:sp>
        <p:nvSpPr>
          <p:cNvPr id="4" name="Text 2"/>
          <p:cNvSpPr/>
          <p:nvPr/>
        </p:nvSpPr>
        <p:spPr>
          <a:xfrm>
            <a:off x="685800" y="822960"/>
            <a:ext cx="2743200" cy="182880"/>
          </a:xfrm>
          <a:prstGeom prst="rect">
            <a:avLst/>
          </a:prstGeom>
          <a:noFill/>
          <a:ln/>
        </p:spPr>
        <p:txBody>
          <a:bodyPr wrap="square" lIns="0" tIns="0" rIns="0" bIns="0" rtlCol="0" anchor="ctr"/>
          <a:lstStyle/>
          <a:p>
            <a:pPr indent="0" marL="0">
              <a:buNone/>
            </a:pPr>
            <a:r>
              <a:rPr lang="en-US" sz="800" b="1" spc="160" kern="0" dirty="0">
                <a:solidFill>
                  <a:srgbClr val="2DD4A0"/>
                </a:solidFill>
              </a:rPr>
              <a:t>THE NEXT MOVE</a:t>
            </a:r>
            <a:endParaRPr lang="en-US" sz="800" dirty="0"/>
          </a:p>
        </p:txBody>
      </p:sp>
      <p:sp>
        <p:nvSpPr>
          <p:cNvPr id="5" name="Text 3"/>
          <p:cNvSpPr/>
          <p:nvPr/>
        </p:nvSpPr>
        <p:spPr>
          <a:xfrm>
            <a:off x="685800" y="1170432"/>
            <a:ext cx="7863840" cy="804672"/>
          </a:xfrm>
          <a:prstGeom prst="rect">
            <a:avLst/>
          </a:prstGeom>
          <a:noFill/>
          <a:ln/>
        </p:spPr>
        <p:txBody>
          <a:bodyPr wrap="square" lIns="0" tIns="0" rIns="0" bIns="0" rtlCol="0" anchor="ctr">
            <a:normAutofit/>
          </a:bodyPr>
          <a:lstStyle/>
          <a:p>
            <a:pPr indent="0" marL="0">
              <a:buNone/>
            </a:pPr>
            <a:r>
              <a:rPr lang="en-US" sz="3600" b="1" dirty="0">
                <a:solidFill>
                  <a:srgbClr val="FFFFFF"/>
                </a:solidFill>
                <a:latin typeface="Aptos Display" pitchFamily="34" charset="0"/>
                <a:ea typeface="Aptos Display" pitchFamily="34" charset="-122"/>
                <a:cs typeface="Aptos Display" pitchFamily="34" charset="-120"/>
              </a:rPr>
              <a:t>Prove the value in one controlled RoadStar pilot.</a:t>
            </a:r>
            <a:endParaRPr lang="en-US" sz="3600" dirty="0"/>
          </a:p>
        </p:txBody>
      </p:sp>
      <p:sp>
        <p:nvSpPr>
          <p:cNvPr id="6" name="Text 4"/>
          <p:cNvSpPr/>
          <p:nvPr/>
        </p:nvSpPr>
        <p:spPr>
          <a:xfrm>
            <a:off x="713232" y="2176272"/>
            <a:ext cx="5669280" cy="292608"/>
          </a:xfrm>
          <a:prstGeom prst="rect">
            <a:avLst/>
          </a:prstGeom>
          <a:noFill/>
          <a:ln/>
        </p:spPr>
        <p:txBody>
          <a:bodyPr wrap="square" lIns="0" tIns="0" rIns="0" bIns="0" rtlCol="0" anchor="ctr"/>
          <a:lstStyle/>
          <a:p>
            <a:pPr indent="0" marL="0">
              <a:buNone/>
            </a:pPr>
            <a:r>
              <a:rPr lang="en-US" sz="1600" b="1" dirty="0">
                <a:solidFill>
                  <a:srgbClr val="2DD4A0"/>
                </a:solidFill>
              </a:rPr>
              <a:t>30 days · one dispatch desk · one operating corridor</a:t>
            </a:r>
            <a:endParaRPr lang="en-US" sz="1600" dirty="0"/>
          </a:p>
        </p:txBody>
      </p:sp>
      <p:sp>
        <p:nvSpPr>
          <p:cNvPr id="7" name="Shape 5"/>
          <p:cNvSpPr/>
          <p:nvPr/>
        </p:nvSpPr>
        <p:spPr>
          <a:xfrm>
            <a:off x="713232" y="2971800"/>
            <a:ext cx="3337560" cy="1600200"/>
          </a:xfrm>
          <a:prstGeom prst="roundRect">
            <a:avLst>
              <a:gd name="adj" fmla="val 4571"/>
            </a:avLst>
          </a:prstGeom>
          <a:solidFill>
            <a:srgbClr val="0D2B23"/>
          </a:solidFill>
          <a:ln w="12700">
            <a:solidFill>
              <a:srgbClr val="1C5947"/>
            </a:solidFill>
            <a:prstDash val="solid"/>
          </a:ln>
        </p:spPr>
      </p:sp>
      <p:sp>
        <p:nvSpPr>
          <p:cNvPr id="8" name="Text 6"/>
          <p:cNvSpPr/>
          <p:nvPr/>
        </p:nvSpPr>
        <p:spPr>
          <a:xfrm>
            <a:off x="941832" y="3218688"/>
            <a:ext cx="457200" cy="228600"/>
          </a:xfrm>
          <a:prstGeom prst="rect">
            <a:avLst/>
          </a:prstGeom>
          <a:noFill/>
          <a:ln/>
        </p:spPr>
        <p:txBody>
          <a:bodyPr wrap="square" lIns="0" tIns="0" rIns="0" bIns="0" rtlCol="0" anchor="ctr"/>
          <a:lstStyle/>
          <a:p>
            <a:pPr indent="0" marL="0">
              <a:buNone/>
            </a:pPr>
            <a:r>
              <a:rPr lang="en-US" sz="1000" b="1" dirty="0">
                <a:solidFill>
                  <a:srgbClr val="2DD4A0"/>
                </a:solidFill>
              </a:rPr>
              <a:t>01</a:t>
            </a:r>
            <a:endParaRPr lang="en-US" sz="1000" dirty="0"/>
          </a:p>
        </p:txBody>
      </p:sp>
      <p:sp>
        <p:nvSpPr>
          <p:cNvPr id="9" name="Text 7"/>
          <p:cNvSpPr/>
          <p:nvPr/>
        </p:nvSpPr>
        <p:spPr>
          <a:xfrm>
            <a:off x="941832" y="3566160"/>
            <a:ext cx="2834640" cy="274320"/>
          </a:xfrm>
          <a:prstGeom prst="rect">
            <a:avLst/>
          </a:prstGeom>
          <a:noFill/>
          <a:ln/>
        </p:spPr>
        <p:txBody>
          <a:bodyPr wrap="square" lIns="0" tIns="0" rIns="0" bIns="0" rtlCol="0" anchor="ctr">
            <a:normAutofit/>
          </a:bodyPr>
          <a:lstStyle/>
          <a:p>
            <a:pPr indent="0" marL="0">
              <a:buNone/>
            </a:pPr>
            <a:r>
              <a:rPr lang="en-US" sz="1600" b="1" dirty="0">
                <a:solidFill>
                  <a:srgbClr val="FFFFFF"/>
                </a:solidFill>
              </a:rPr>
              <a:t>Connect one real feed</a:t>
            </a:r>
            <a:endParaRPr lang="en-US" sz="1600" dirty="0"/>
          </a:p>
        </p:txBody>
      </p:sp>
      <p:sp>
        <p:nvSpPr>
          <p:cNvPr id="10" name="Text 8"/>
          <p:cNvSpPr/>
          <p:nvPr/>
        </p:nvSpPr>
        <p:spPr>
          <a:xfrm>
            <a:off x="941832" y="3977640"/>
            <a:ext cx="2788920" cy="384048"/>
          </a:xfrm>
          <a:prstGeom prst="rect">
            <a:avLst/>
          </a:prstGeom>
          <a:noFill/>
          <a:ln/>
        </p:spPr>
        <p:txBody>
          <a:bodyPr wrap="square" lIns="0" tIns="0" rIns="0" bIns="0" rtlCol="0" anchor="ctr">
            <a:normAutofit/>
          </a:bodyPr>
          <a:lstStyle/>
          <a:p>
            <a:pPr indent="0" marL="0">
              <a:buNone/>
            </a:pPr>
            <a:r>
              <a:rPr lang="en-US" sz="900" dirty="0">
                <a:solidFill>
                  <a:srgbClr val="BFD7CF"/>
                </a:solidFill>
              </a:rPr>
              <a:t>Select an ELD or TMS sandbox and map it through the existing adapter contract.</a:t>
            </a:r>
            <a:endParaRPr lang="en-US" sz="900" dirty="0"/>
          </a:p>
        </p:txBody>
      </p:sp>
      <p:sp>
        <p:nvSpPr>
          <p:cNvPr id="11" name="Shape 9"/>
          <p:cNvSpPr/>
          <p:nvPr/>
        </p:nvSpPr>
        <p:spPr>
          <a:xfrm>
            <a:off x="4407408" y="2971800"/>
            <a:ext cx="3337560" cy="1600200"/>
          </a:xfrm>
          <a:prstGeom prst="roundRect">
            <a:avLst>
              <a:gd name="adj" fmla="val 4571"/>
            </a:avLst>
          </a:prstGeom>
          <a:solidFill>
            <a:srgbClr val="0D2B23"/>
          </a:solidFill>
          <a:ln w="12700">
            <a:solidFill>
              <a:srgbClr val="1C5947"/>
            </a:solidFill>
            <a:prstDash val="solid"/>
          </a:ln>
        </p:spPr>
      </p:sp>
      <p:sp>
        <p:nvSpPr>
          <p:cNvPr id="12" name="Text 10"/>
          <p:cNvSpPr/>
          <p:nvPr/>
        </p:nvSpPr>
        <p:spPr>
          <a:xfrm>
            <a:off x="4636008" y="3218688"/>
            <a:ext cx="457200" cy="228600"/>
          </a:xfrm>
          <a:prstGeom prst="rect">
            <a:avLst/>
          </a:prstGeom>
          <a:noFill/>
          <a:ln/>
        </p:spPr>
        <p:txBody>
          <a:bodyPr wrap="square" lIns="0" tIns="0" rIns="0" bIns="0" rtlCol="0" anchor="ctr"/>
          <a:lstStyle/>
          <a:p>
            <a:pPr indent="0" marL="0">
              <a:buNone/>
            </a:pPr>
            <a:r>
              <a:rPr lang="en-US" sz="1000" b="1" dirty="0">
                <a:solidFill>
                  <a:srgbClr val="2DD4A0"/>
                </a:solidFill>
              </a:rPr>
              <a:t>02</a:t>
            </a:r>
            <a:endParaRPr lang="en-US" sz="1000" dirty="0"/>
          </a:p>
        </p:txBody>
      </p:sp>
      <p:sp>
        <p:nvSpPr>
          <p:cNvPr id="13" name="Text 11"/>
          <p:cNvSpPr/>
          <p:nvPr/>
        </p:nvSpPr>
        <p:spPr>
          <a:xfrm>
            <a:off x="4636008" y="3566160"/>
            <a:ext cx="2834640" cy="274320"/>
          </a:xfrm>
          <a:prstGeom prst="rect">
            <a:avLst/>
          </a:prstGeom>
          <a:noFill/>
          <a:ln/>
        </p:spPr>
        <p:txBody>
          <a:bodyPr wrap="square" lIns="0" tIns="0" rIns="0" bIns="0" rtlCol="0" anchor="ctr">
            <a:normAutofit/>
          </a:bodyPr>
          <a:lstStyle/>
          <a:p>
            <a:pPr indent="0" marL="0">
              <a:buNone/>
            </a:pPr>
            <a:r>
              <a:rPr lang="en-US" sz="1600" b="1" dirty="0">
                <a:solidFill>
                  <a:srgbClr val="FFFFFF"/>
                </a:solidFill>
              </a:rPr>
              <a:t>Run real morning dispatch</a:t>
            </a:r>
            <a:endParaRPr lang="en-US" sz="1600" dirty="0"/>
          </a:p>
        </p:txBody>
      </p:sp>
      <p:sp>
        <p:nvSpPr>
          <p:cNvPr id="14" name="Text 12"/>
          <p:cNvSpPr/>
          <p:nvPr/>
        </p:nvSpPr>
        <p:spPr>
          <a:xfrm>
            <a:off x="4636008" y="3977640"/>
            <a:ext cx="2788920" cy="384048"/>
          </a:xfrm>
          <a:prstGeom prst="rect">
            <a:avLst/>
          </a:prstGeom>
          <a:noFill/>
          <a:ln/>
        </p:spPr>
        <p:txBody>
          <a:bodyPr wrap="square" lIns="0" tIns="0" rIns="0" bIns="0" rtlCol="0" anchor="ctr">
            <a:normAutofit/>
          </a:bodyPr>
          <a:lstStyle/>
          <a:p>
            <a:pPr indent="0" marL="0">
              <a:buNone/>
            </a:pPr>
            <a:r>
              <a:rPr lang="en-US" sz="900" dirty="0">
                <a:solidFill>
                  <a:srgbClr val="BFD7CF"/>
                </a:solidFill>
              </a:rPr>
              <a:t>Use RoadStar for intake, eligibility, approvals, driver action and exception handling.</a:t>
            </a:r>
            <a:endParaRPr lang="en-US" sz="900" dirty="0"/>
          </a:p>
        </p:txBody>
      </p:sp>
      <p:sp>
        <p:nvSpPr>
          <p:cNvPr id="15" name="Shape 13"/>
          <p:cNvSpPr/>
          <p:nvPr/>
        </p:nvSpPr>
        <p:spPr>
          <a:xfrm>
            <a:off x="8101584" y="2971800"/>
            <a:ext cx="3337560" cy="1600200"/>
          </a:xfrm>
          <a:prstGeom prst="roundRect">
            <a:avLst>
              <a:gd name="adj" fmla="val 4571"/>
            </a:avLst>
          </a:prstGeom>
          <a:solidFill>
            <a:srgbClr val="0D2B23"/>
          </a:solidFill>
          <a:ln w="12700">
            <a:solidFill>
              <a:srgbClr val="1C5947"/>
            </a:solidFill>
            <a:prstDash val="solid"/>
          </a:ln>
        </p:spPr>
      </p:sp>
      <p:sp>
        <p:nvSpPr>
          <p:cNvPr id="16" name="Text 14"/>
          <p:cNvSpPr/>
          <p:nvPr/>
        </p:nvSpPr>
        <p:spPr>
          <a:xfrm>
            <a:off x="8330184" y="3218688"/>
            <a:ext cx="457200" cy="228600"/>
          </a:xfrm>
          <a:prstGeom prst="rect">
            <a:avLst/>
          </a:prstGeom>
          <a:noFill/>
          <a:ln/>
        </p:spPr>
        <p:txBody>
          <a:bodyPr wrap="square" lIns="0" tIns="0" rIns="0" bIns="0" rtlCol="0" anchor="ctr"/>
          <a:lstStyle/>
          <a:p>
            <a:pPr indent="0" marL="0">
              <a:buNone/>
            </a:pPr>
            <a:r>
              <a:rPr lang="en-US" sz="1000" b="1" dirty="0">
                <a:solidFill>
                  <a:srgbClr val="2DD4A0"/>
                </a:solidFill>
              </a:rPr>
              <a:t>03</a:t>
            </a:r>
            <a:endParaRPr lang="en-US" sz="1000" dirty="0"/>
          </a:p>
        </p:txBody>
      </p:sp>
      <p:sp>
        <p:nvSpPr>
          <p:cNvPr id="17" name="Text 15"/>
          <p:cNvSpPr/>
          <p:nvPr/>
        </p:nvSpPr>
        <p:spPr>
          <a:xfrm>
            <a:off x="8330184" y="3566160"/>
            <a:ext cx="2834640" cy="274320"/>
          </a:xfrm>
          <a:prstGeom prst="rect">
            <a:avLst/>
          </a:prstGeom>
          <a:noFill/>
          <a:ln/>
        </p:spPr>
        <p:txBody>
          <a:bodyPr wrap="square" lIns="0" tIns="0" rIns="0" bIns="0" rtlCol="0" anchor="ctr">
            <a:normAutofit/>
          </a:bodyPr>
          <a:lstStyle/>
          <a:p>
            <a:pPr indent="0" marL="0">
              <a:buNone/>
            </a:pPr>
            <a:r>
              <a:rPr lang="en-US" sz="1600" b="1" dirty="0">
                <a:solidFill>
                  <a:srgbClr val="FFFFFF"/>
                </a:solidFill>
              </a:rPr>
              <a:t>Measure three outcomes</a:t>
            </a:r>
            <a:endParaRPr lang="en-US" sz="1600" dirty="0"/>
          </a:p>
        </p:txBody>
      </p:sp>
      <p:sp>
        <p:nvSpPr>
          <p:cNvPr id="18" name="Text 16"/>
          <p:cNvSpPr/>
          <p:nvPr/>
        </p:nvSpPr>
        <p:spPr>
          <a:xfrm>
            <a:off x="8330184" y="3977640"/>
            <a:ext cx="2788920" cy="384048"/>
          </a:xfrm>
          <a:prstGeom prst="rect">
            <a:avLst/>
          </a:prstGeom>
          <a:noFill/>
          <a:ln/>
        </p:spPr>
        <p:txBody>
          <a:bodyPr wrap="square" lIns="0" tIns="0" rIns="0" bIns="0" rtlCol="0" anchor="ctr">
            <a:normAutofit/>
          </a:bodyPr>
          <a:lstStyle/>
          <a:p>
            <a:pPr indent="0" marL="0">
              <a:buNone/>
            </a:pPr>
            <a:r>
              <a:rPr lang="en-US" sz="900" dirty="0">
                <a:solidFill>
                  <a:srgbClr val="BFD7CF"/>
                </a:solidFill>
              </a:rPr>
              <a:t>Quote response time, empty kilometres and captured detention revenue.</a:t>
            </a:r>
            <a:endParaRPr lang="en-US" sz="900" dirty="0"/>
          </a:p>
        </p:txBody>
      </p:sp>
      <p:sp>
        <p:nvSpPr>
          <p:cNvPr id="19" name="Text 17"/>
          <p:cNvSpPr/>
          <p:nvPr/>
        </p:nvSpPr>
        <p:spPr>
          <a:xfrm>
            <a:off x="731520" y="5669280"/>
            <a:ext cx="3840480" cy="292608"/>
          </a:xfrm>
          <a:prstGeom prst="rect">
            <a:avLst/>
          </a:prstGeom>
          <a:noFill/>
          <a:ln/>
        </p:spPr>
        <p:txBody>
          <a:bodyPr wrap="square" lIns="0" tIns="0" rIns="0" bIns="0" rtlCol="0" anchor="ctr"/>
          <a:lstStyle/>
          <a:p>
            <a:pPr indent="0" marL="0">
              <a:buNone/>
            </a:pPr>
            <a:r>
              <a:rPr lang="en-US" sz="1700" b="1" dirty="0">
                <a:solidFill>
                  <a:srgbClr val="FFFFFF"/>
                </a:solidFill>
              </a:rPr>
              <a:t>RoadStar DispatchOS Team</a:t>
            </a:r>
            <a:endParaRPr lang="en-US" sz="1700" dirty="0"/>
          </a:p>
        </p:txBody>
      </p:sp>
      <p:sp>
        <p:nvSpPr>
          <p:cNvPr id="20" name="Text 18"/>
          <p:cNvSpPr/>
          <p:nvPr/>
        </p:nvSpPr>
        <p:spPr>
          <a:xfrm>
            <a:off x="731520" y="6053328"/>
            <a:ext cx="3017520" cy="219456"/>
          </a:xfrm>
          <a:prstGeom prst="rect">
            <a:avLst/>
          </a:prstGeom>
          <a:noFill/>
          <a:ln/>
        </p:spPr>
        <p:txBody>
          <a:bodyPr wrap="square" lIns="0" tIns="0" rIns="0" bIns="0" rtlCol="0" anchor="ctr"/>
          <a:lstStyle/>
          <a:p>
            <a:pPr indent="0" marL="0">
              <a:buNone/>
            </a:pPr>
            <a:r>
              <a:rPr lang="en-US" sz="1200" b="1" dirty="0">
                <a:solidFill>
                  <a:srgbClr val="2DD4A0"/>
                </a:solidFill>
              </a:rPr>
              <a:t>roadstardispatch.xyz</a:t>
            </a:r>
            <a:endParaRPr lang="en-US" sz="1200" dirty="0"/>
          </a:p>
        </p:txBody>
      </p:sp>
      <p:sp>
        <p:nvSpPr>
          <p:cNvPr id="21" name="Text 19"/>
          <p:cNvSpPr/>
          <p:nvPr/>
        </p:nvSpPr>
        <p:spPr>
          <a:xfrm>
            <a:off x="6537960" y="5742432"/>
            <a:ext cx="4754880" cy="438912"/>
          </a:xfrm>
          <a:prstGeom prst="rect">
            <a:avLst/>
          </a:prstGeom>
          <a:noFill/>
          <a:ln/>
        </p:spPr>
        <p:txBody>
          <a:bodyPr wrap="square" lIns="0" tIns="0" rIns="0" bIns="0" rtlCol="0" anchor="ctr">
            <a:normAutofit/>
          </a:bodyPr>
          <a:lstStyle/>
          <a:p>
            <a:pPr algn="r" indent="0" marL="0">
              <a:buNone/>
            </a:pPr>
            <a:r>
              <a:rPr lang="en-US" sz="1700" b="1" i="1" dirty="0">
                <a:solidFill>
                  <a:srgbClr val="BFD7CF"/>
                </a:solidFill>
              </a:rPr>
              <a:t>A custom operating system—not another disconnected subscription.</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RoadStar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RoadStar DispatchOS — The operating system for Southern Ontario freight</dc:title>
  <dc:subject>Hackathon product pitch</dc:subject>
  <dc:creator>RoadStar DispatchOS</dc:creator>
  <cp:lastModifiedBy>RoadStar DispatchOS</cp:lastModifiedBy>
  <cp:revision>1</cp:revision>
  <dcterms:created xsi:type="dcterms:W3CDTF">2026-09-13T15:56:16Z</dcterms:created>
  <dcterms:modified xsi:type="dcterms:W3CDTF">2026-09-13T15:56:16Z</dcterms:modified>
</cp:coreProperties>
</file>